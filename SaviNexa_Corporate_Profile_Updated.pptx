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9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-logo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Relationship Id="rId6" Type="http://schemas.openxmlformats.org/officeDocument/2006/relationships/image" Target="../media/image-logo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219456" cy="219456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1463040"/>
            <a:ext cx="146304" cy="14630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731520"/>
            <a:ext cx="182880" cy="18288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326880" y="2103120"/>
            <a:ext cx="128016" cy="128016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0" y="1828800"/>
            <a:ext cx="237744" cy="23774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2468880"/>
            <a:ext cx="164592" cy="164592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5303520"/>
            <a:ext cx="164592" cy="164592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795760" y="5486400"/>
            <a:ext cx="201168" cy="20116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64240" y="6035040"/>
            <a:ext cx="128016" cy="128016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09760" y="6309360"/>
            <a:ext cx="182880" cy="18288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&amp; TALENT ACQUISITION CONSULTANCY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2402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SaviNexa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 →  Strategy  →  Right People  →  Business Growth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Profile  |  Company Presentation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172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CLIENTS, HIRING PARTNERS &amp; STRATEGIC COLLABORATORS</a:t>
            </a:r>
            <a:endParaRPr lang="en-US" sz="1000" dirty="0"/>
          </a:p>
        </p:txBody>
      </p:sp>
      <p:sp>
        <p:nvSpPr>
          <p:cNvPr id="18" name="Logo Chip"/>
          <p:cNvSpPr/>
          <p:nvPr/>
        </p:nvSpPr>
        <p:spPr>
          <a:xfrm>
            <a:off x="822960" y="228600"/>
            <a:ext cx="11887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19" name="SaviNexa Logo" descr="SaviNexa logo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32760" y="320040"/>
            <a:ext cx="96936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Talent Partner Built Around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and People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3172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SaviNexa is a talent acquisition and recruitment consultancy built to help organisations find, hire, and retain the people who drive business outcomes. We work as an extension of our clients' teams — combining structured search methodology, market insight, and a consultative approach to close critical roles with the right talent, not just available talent.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support startups and established companies alike — across IT, non-IT, manufacturing, sales, marketing, finance, operations and more — with one dedicated team managing hiring end-to-end.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635240" y="91440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117043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savinext/icons/bullseye_FFFFF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28432" y="1335024"/>
            <a:ext cx="402336" cy="40233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778240" y="107899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hiring, not volume hiring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635240" y="237744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</p:spPr>
      </p:sp>
      <p:sp>
        <p:nvSpPr>
          <p:cNvPr id="11" name="Shape 8"/>
          <p:cNvSpPr/>
          <p:nvPr/>
        </p:nvSpPr>
        <p:spPr>
          <a:xfrm>
            <a:off x="7863840" y="263347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savinext/icons/handshake_FFFFF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28432" y="2798064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778240" y="254203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consultative, partnership-led approach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635240" y="384048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863840" y="4096512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avinext/icons/chartline_FFFFFF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28432" y="4261104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778240" y="400507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decisions tied to business growth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SAVINEXA · TALENT &amp; HIRING SOLUTIONS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 the Right Person, Fast,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Getting Harder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E2761">
              <a:alpha val="90000"/>
            </a:srgbClr>
          </a:solidFill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542032"/>
            <a:ext cx="685800" cy="6858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6" name="Image 0" descr="/home/claude/savinext/icons/search_1E276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60145" y="2696337"/>
            <a:ext cx="377190" cy="3771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4871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time-to-hire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85292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positions stay vacant while internal teams juggle sourcing with day-to-day priorities.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22860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E2761">
              <a:alpha val="90000"/>
            </a:srgbClr>
          </a:solidFill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542032"/>
            <a:ext cx="685800" cy="6858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1" name="Image 1" descr="/home/claude/savinext/icons/users_1E276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46545" y="2696337"/>
            <a:ext cx="377190" cy="3771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24871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Talent-role mismatch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85292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volumes of applicants rarely translate into candidates who truly fit the role and culture.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425196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E2761">
              <a:alpha val="90000"/>
            </a:srgbClr>
          </a:solidFill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05840" y="4507992"/>
            <a:ext cx="685800" cy="6858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6" name="Image 2" descr="/home/claude/savinext/icons/contract_1E276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60145" y="4662297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74520" y="4453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documentation load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874520" y="481888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letters, onboarding, statutory formalities and exits add administrative overhead.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425196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E2761">
              <a:alpha val="90000"/>
            </a:srgbClr>
          </a:solidFill>
          <a:ln w="635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4507992"/>
            <a:ext cx="685800" cy="6858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1" name="Image 3" descr="/home/claude/savinext/icons/chartbar_1E2761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46545" y="4662297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4453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pressure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360920" y="481888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plans, new markets and project ramps demand talent faster than internal HR can deliver.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SAVINEXA · TALENT &amp; HIRING SOLUTIONS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Talent to Business Growth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SaviNexa connects four stages into one continuous value chain — turning a hiring need into a lasting business outcome.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40180" y="2743200"/>
            <a:ext cx="1188720" cy="11887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avinext/icons/network_FFFFF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07642" y="3010662"/>
            <a:ext cx="653796" cy="6537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40965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49884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market and identifying where the right people are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64408" y="3255264"/>
            <a:ext cx="182880" cy="164592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0" name="Shape 7"/>
          <p:cNvSpPr/>
          <p:nvPr/>
        </p:nvSpPr>
        <p:spPr>
          <a:xfrm>
            <a:off x="4091940" y="2743200"/>
            <a:ext cx="1188720" cy="11887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avinext/icons/bullseye_FFFFF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59402" y="3010662"/>
            <a:ext cx="653796" cy="6537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91840" y="40965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337560" y="449884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sourcing and hiring plan tailored to the role and business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16168" y="3255264"/>
            <a:ext cx="182880" cy="164592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5" name="Shape 11"/>
          <p:cNvSpPr/>
          <p:nvPr/>
        </p:nvSpPr>
        <p:spPr>
          <a:xfrm>
            <a:off x="6743700" y="2743200"/>
            <a:ext cx="1188720" cy="11887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avinext/icons/usertie_FFFFFF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11162" y="3010662"/>
            <a:ext cx="653796" cy="6537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943600" y="40965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People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989320" y="449884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screening to deliver candidates who truly fit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567928" y="3255264"/>
            <a:ext cx="182880" cy="164592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20" name="Shape 15"/>
          <p:cNvSpPr/>
          <p:nvPr/>
        </p:nvSpPr>
        <p:spPr>
          <a:xfrm>
            <a:off x="9395460" y="2743200"/>
            <a:ext cx="1188720" cy="118872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1" name="Image 3" descr="/home/claude/savinext/icons/rocket_1E2761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662922" y="3010662"/>
            <a:ext cx="653796" cy="6537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595360" y="40965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Growth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641080" y="449884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hires, onboarded well, that move the business forward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SAVINEXA · TALENT &amp; HIRING SOLUTIONS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OFFER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Services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828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avinext/icons/usertie_FFFFF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60145" y="1983105"/>
            <a:ext cx="377190" cy="3771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2651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Recruitment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1272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hiring for full-time roles across levels and functions.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80560" y="155448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828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avinext/icons/friends_FFFFF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09185" y="198310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54880" y="2651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Temporary Staffing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31272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on-demand talent deployment for short-term and project needs.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0" y="155448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03920" y="1828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avinext/icons/search_FFFFFF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58225" y="198310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03920" y="2651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Search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312724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Confidential, targeted search for senior and leadership positions.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1520" y="402336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5840" y="42976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savinext/icons/network_FFFFFF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60145" y="445198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05840" y="5120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Process Outsourcing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1005840" y="55961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all or part of a client's hiring pipeline as an extended team.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80560" y="402336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42976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savinext/icons/shield_FFFFFF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909185" y="4451985"/>
            <a:ext cx="377190" cy="37719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754880" y="5120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Consulting &amp; Compliance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754880" y="55961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onboarding, documentation and workforce compliance.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29600" y="402336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03920" y="42976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savinext/icons/grad_FFFFFF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58225" y="4451985"/>
            <a:ext cx="377190" cy="37719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503920" y="5120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Development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503920" y="55961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capability so new and existing talent perform from day one.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SAVINEXA · TALENT &amp; HIRING SOLUTIONS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Recruitment Process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five-step methodology applied to every mandate.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" y="3108960"/>
            <a:ext cx="96926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savinext/icons/clipboard_FFFFF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0392" y="2907792"/>
            <a:ext cx="402336" cy="402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97864" y="2615184"/>
            <a:ext cx="256032" cy="256032"/>
          </a:xfrm>
          <a:prstGeom prst="ellipse">
            <a:avLst/>
          </a:prstGeom>
          <a:solidFill>
            <a:srgbClr val="C9A2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97864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28600" y="4096512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into the role, team, culture and success metrics with the client.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08960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savinext/icons/search_FFFFF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73552" y="2907792"/>
            <a:ext cx="402336" cy="40233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621024" y="2615184"/>
            <a:ext cx="256032" cy="256032"/>
          </a:xfrm>
          <a:prstGeom prst="ellipse">
            <a:avLst/>
          </a:prstGeom>
          <a:solidFill>
            <a:srgbClr val="C9A2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621024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274320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651760" y="4096512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map and engage the right talent pool, active and passive.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532120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savinext/icons/check_FFFFFF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96712" y="2907792"/>
            <a:ext cx="402336" cy="40233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044184" y="2615184"/>
            <a:ext cx="256032" cy="256032"/>
          </a:xfrm>
          <a:prstGeom prst="ellipse">
            <a:avLst/>
          </a:prstGeom>
          <a:solidFill>
            <a:srgbClr val="C9A2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044184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516636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&amp; Evaluate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074920" y="4096512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assessment of skills, experience and cultural fit.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955280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/home/claude/savinext/icons/friends_FFFFFF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19872" y="2907792"/>
            <a:ext cx="402336" cy="402336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467344" y="2615184"/>
            <a:ext cx="256032" cy="256032"/>
          </a:xfrm>
          <a:prstGeom prst="ellipse">
            <a:avLst/>
          </a:prstGeom>
          <a:solidFill>
            <a:srgbClr val="C9A2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8467344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758952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&amp; Interview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7498080" y="4096512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shortlist presented with coordinated interview support.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10378440" y="27432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4" descr="/home/claude/savinext/icons/handshake_FFFFFF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543032" y="2907792"/>
            <a:ext cx="402336" cy="402336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10890504" y="2615184"/>
            <a:ext cx="256032" cy="256032"/>
          </a:xfrm>
          <a:prstGeom prst="ellipse">
            <a:avLst/>
          </a:prstGeom>
          <a:solidFill>
            <a:srgbClr val="C9A24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10890504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1001268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&amp; Onboard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9921240" y="4096512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management, documentation and smooth onboarding to Day 1.</a:t>
            </a:r>
            <a:endParaRPr lang="en-US" sz="950" dirty="0"/>
          </a:p>
        </p:txBody>
      </p:sp>
      <p:sp>
        <p:nvSpPr>
          <p:cNvPr id="36" name="Text 2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SAVINEXA · TALENT &amp; HIRING SOLUTIONS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US APART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Our Approach is Different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94360" cy="59436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5" name="Image 0" descr="/home/claude/savinext/icons/bullseye_1E276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5251" y="1871091"/>
            <a:ext cx="326898" cy="3268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Fit-first search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08483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prioritise role and culture fit over speed-only, volume-based sourcing.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217920" y="1737360"/>
            <a:ext cx="594360" cy="59436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9" name="Image 1" descr="/home/claude/savinext/icons/handshake_1E276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1651" y="1871091"/>
            <a:ext cx="326898" cy="32689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9516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Consultative partnership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6995160" y="208483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act as an extension of the client's HR and hiring teams, not a transactional vendor.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3" name="Image 2" descr="/home/claude/savinext/icons/cogs_1E276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5251" y="3608451"/>
            <a:ext cx="326898" cy="32689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429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methodology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508760" y="382219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process applied consistently across every mandate and function.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217920" y="3474720"/>
            <a:ext cx="594360" cy="59436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7" name="Image 3" descr="/home/claude/savinext/icons/shield_1E2761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51651" y="3608451"/>
            <a:ext cx="326898" cy="32689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95160" y="3429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Compliance-aware execution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6995160" y="382219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onboarding and workforce formalities handled with care.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31520" y="5212080"/>
            <a:ext cx="594360" cy="59436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1" name="Image 4" descr="/home/claude/savinext/icons/network_1E2761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5251" y="5345811"/>
            <a:ext cx="326898" cy="32689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08760" y="5166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engagement models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1508760" y="555955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Permanent, contract, RPO or project-based — shaped around client needs.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217920" y="5212080"/>
            <a:ext cx="594360" cy="59436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5" name="Image 5" descr="/home/claude/savinext/icons/chartline_1E2761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351651" y="5345811"/>
            <a:ext cx="326898" cy="32689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995160" y="5166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orientation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6995160" y="555955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hire is evaluated against the business result it is meant to deliver.</a:t>
            </a:r>
            <a:endParaRPr lang="en-US" sz="105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SAVINEXA · TALENT &amp; HIRING SOLUTIONS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WE CREATE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We Bring to Clients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C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avinext/icons/chartline_FFFFF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111" y="1956359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7647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time-to-hire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87552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Pre-mapped talent pipelines shorten the path from vacancy to offer.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80560" y="16002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C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36592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avinext/icons/coins_FFFFF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64151" y="195635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17647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736592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dependency on ad-hoc job-board spend and internal recruiter overhead.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C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1828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avinext/icons/usertie_FFFFFF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13191" y="1956359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89720" y="17647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Higher-quality shortlists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8485632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better-fit candidates instead of high-volume, low-relevance resumes.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1520" y="38862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C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7552" y="4114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savinext/icons/shield_FFFFFF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15111" y="4242359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91640" y="40507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compliance risk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987552" y="4800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and onboarding formalities handled with rigour.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480560" y="38862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C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36592" y="4114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savinext/icons/network_FFFFFF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864151" y="4242359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40680" y="40507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hiring capacity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4736592" y="4800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hiring up or down with business cycles, without adding fixed headcount.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229600" y="38862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C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85632" y="4114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savinext/icons/handshake_FFFFFF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13191" y="4242359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89720" y="40507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point of accountability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8485632" y="4800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dedicated partner managing the hiring outcome end-to-end.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SAVINEXA · TALENT &amp; HIRING SOLUTIONS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OPERATE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Industries &amp; Functions We Can Support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822960" cy="822960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6" name="Image 0" descr="/home/claude/savinext/icons/laptop_1E276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6686" y="2196846"/>
            <a:ext cx="452628" cy="4526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" y="29077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Technology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514600" y="2011680"/>
            <a:ext cx="822960" cy="822960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9" name="Image 1" descr="/home/claude/savinext/icons/coins_1E276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99766" y="2196846"/>
            <a:ext cx="452628" cy="4526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94560" y="29077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297680" y="2011680"/>
            <a:ext cx="822960" cy="822960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12" name="Image 2" descr="/home/claude/savinext/icons/industry_1E276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82846" y="2196846"/>
            <a:ext cx="452628" cy="45262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77640" y="29077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080760" y="2011680"/>
            <a:ext cx="822960" cy="822960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15" name="Image 3" descr="/home/claude/savinext/icons/hospital_1E2761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65926" y="2196846"/>
            <a:ext cx="452628" cy="45262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760720" y="29077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7863840" y="2011680"/>
            <a:ext cx="822960" cy="822960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18" name="Image 4" descr="/home/claude/savinext/icons/building_1E2761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49006" y="2196846"/>
            <a:ext cx="452628" cy="45262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543800" y="29077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E-commerce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9646920" y="2011680"/>
            <a:ext cx="822960" cy="822960"/>
          </a:xfrm>
          <a:prstGeom prst="ellipse">
            <a:avLst/>
          </a:prstGeom>
          <a:solidFill>
            <a:srgbClr val="F5F7FC"/>
          </a:solidFill>
          <a:ln/>
        </p:spPr>
      </p:sp>
      <p:pic>
        <p:nvPicPr>
          <p:cNvPr id="21" name="Image 5" descr="/home/claude/savinext/icons/rocket_1E2761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832086" y="2196846"/>
            <a:ext cx="452628" cy="45262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326880" y="29077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731520" y="3794760"/>
            <a:ext cx="106984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73152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731520" y="4434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6" descr="/home/claude/savinext/icons/cogs_FFFFFF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16686" y="4620006"/>
            <a:ext cx="452628" cy="45262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411480" y="53309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Tech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2514600" y="4434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7" descr="/home/claude/savinext/icons/dollar_FFFFFF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699766" y="4620006"/>
            <a:ext cx="452628" cy="45262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2194560" y="53309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4297680" y="4434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8" descr="/home/claude/savinext/icons/chartbar_FFFFFF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482846" y="4620006"/>
            <a:ext cx="452628" cy="45262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3977640" y="53309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Accounts</a:t>
            </a:r>
            <a:endParaRPr lang="en-US" sz="1050" dirty="0"/>
          </a:p>
        </p:txBody>
      </p:sp>
      <p:sp>
        <p:nvSpPr>
          <p:cNvPr id="34" name="Shape 23"/>
          <p:cNvSpPr/>
          <p:nvPr/>
        </p:nvSpPr>
        <p:spPr>
          <a:xfrm>
            <a:off x="6080760" y="4434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9" descr="/home/claude/savinext/icons/network_FFFFFF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265926" y="4620006"/>
            <a:ext cx="452628" cy="45262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5760720" y="53309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37" name="Shape 25"/>
          <p:cNvSpPr/>
          <p:nvPr/>
        </p:nvSpPr>
        <p:spPr>
          <a:xfrm>
            <a:off x="7863840" y="4434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8" name="Image 10" descr="/home/claude/savinext/icons/friends_FFFFFF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049006" y="4620006"/>
            <a:ext cx="452628" cy="452628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7543800" y="53309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1050" dirty="0"/>
          </a:p>
        </p:txBody>
      </p:sp>
      <p:sp>
        <p:nvSpPr>
          <p:cNvPr id="40" name="Shape 27"/>
          <p:cNvSpPr/>
          <p:nvPr/>
        </p:nvSpPr>
        <p:spPr>
          <a:xfrm>
            <a:off x="9646920" y="4434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11" descr="/home/claude/savinext/icons/usertie_FFFFFF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832086" y="4620006"/>
            <a:ext cx="452628" cy="452628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9326880" y="53309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 CXO</a:t>
            </a:r>
            <a:endParaRPr lang="en-US" sz="1050" dirty="0"/>
          </a:p>
        </p:txBody>
      </p:sp>
      <p:sp>
        <p:nvSpPr>
          <p:cNvPr id="43" name="Text 29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also support Marketing, Supply Chain &amp; Procurement, Customer Support &amp; Success, Quality &amp; Production, and Project &amp; Program Management — see the full list on the next page.</a:t>
            </a:r>
            <a:endParaRPr lang="en-US" sz="950" dirty="0"/>
          </a:p>
        </p:txBody>
      </p:sp>
      <p:sp>
        <p:nvSpPr>
          <p:cNvPr id="44" name="Text 3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SAVINEXA · TALENT &amp; HIRING SOLUTIONS</a:t>
            </a:r>
            <a:endParaRPr lang="en-US" sz="900" dirty="0"/>
          </a:p>
        </p:txBody>
      </p:sp>
      <p:sp>
        <p:nvSpPr>
          <p:cNvPr id="45" name="Text 31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SAVINEXA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Companies Choose to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With 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5" name="Image 0" descr="/home/claude/savinext/icons/check_1E276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423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25856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dedicated, consultative approach instead of a transactional vendor relationship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8" name="Image 1" descr="/home/claude/savinext/icons/check_1E276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" y="32004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303580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process that brings predictability to hiring timelines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1" name="Image 2" descr="/home/claude/savinext/icons/check_1E276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960" y="39776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81304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engagement — permanent, contract, RPO or advisory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31520" y="466344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4" name="Image 3" descr="/home/claude/savinext/icons/check_1E2761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2960" y="475488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71600" y="459028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to compliance, documentation and candidate experience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731520" y="544068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7" name="Image 4" descr="/home/claude/savinext/icons/check_1E2761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22960" y="553212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536752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 invested in the long-term success of every placement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7680960" y="2103120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</p:spPr>
      </p:sp>
      <p:sp>
        <p:nvSpPr>
          <p:cNvPr id="20" name="Shape 13"/>
          <p:cNvSpPr/>
          <p:nvPr/>
        </p:nvSpPr>
        <p:spPr>
          <a:xfrm>
            <a:off x="8001000" y="24231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5" descr="/home/claude/savinext/icons/bullseye_FFFFFF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86166" y="2608326"/>
            <a:ext cx="452628" cy="45262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00100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Commitment</a:t>
            </a:r>
            <a:endParaRPr lang="en-US" sz="1600" dirty="0"/>
          </a:p>
        </p:txBody>
      </p:sp>
      <p:sp>
        <p:nvSpPr>
          <p:cNvPr id="23" name="Text 15"/>
          <p:cNvSpPr txBox="1"/>
          <p:nvPr/>
        </p:nvSpPr>
        <p:spPr>
          <a:xfrm>
            <a:off x="8001000" y="38404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treat every mandate as a business problem to solve, not a requisition to fill — delivering talent decisions that hold up well beyond the offer letter.</a:t>
            </a:r>
            <a:endParaRPr lang="en-US" sz="1150" dirty="0"/>
          </a:p>
        </p:txBody>
      </p:sp>
      <p:sp>
        <p:nvSpPr>
          <p:cNvPr id="24" name="Text 1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SAVINEXA · TALENT &amp; HIRING SOLUTIONS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Vision for Growth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SaviNexa aims to grow from a trusted recruitment partner into a full-spectrum talent strategy consultancy.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" y="254203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savinext/icons/globe_FFFFF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1857" y="2696337"/>
            <a:ext cx="377190" cy="3771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24871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Geographic Reach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90779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mandate coverage across more cities and, over time, international markets.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22860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/>
        </p:spPr>
      </p:sp>
      <p:sp>
        <p:nvSpPr>
          <p:cNvPr id="11" name="Shape 8"/>
          <p:cNvSpPr/>
          <p:nvPr/>
        </p:nvSpPr>
        <p:spPr>
          <a:xfrm>
            <a:off x="6473952" y="254203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savinext/icons/network_FFFFF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28257" y="2696337"/>
            <a:ext cx="377190" cy="3771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0" y="24871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Industry Specialisation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7315200" y="290779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focused expertise and talent pools within key sectors and functions.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31520" y="43434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/>
        </p:spPr>
      </p:sp>
      <p:sp>
        <p:nvSpPr>
          <p:cNvPr id="16" name="Shape 12"/>
          <p:cNvSpPr/>
          <p:nvPr/>
        </p:nvSpPr>
        <p:spPr>
          <a:xfrm>
            <a:off x="987552" y="459943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savinext/icons/cogs_FFFFFF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41857" y="4753737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28800" y="45445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Technology-Led Hiring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1828800" y="496519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Adopting data and AI-assisted tools to sharpen sourcing, screening and matching.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17920" y="43434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/>
        </p:spPr>
      </p:sp>
      <p:sp>
        <p:nvSpPr>
          <p:cNvPr id="21" name="Shape 16"/>
          <p:cNvSpPr/>
          <p:nvPr/>
        </p:nvSpPr>
        <p:spPr>
          <a:xfrm>
            <a:off x="6473952" y="459943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savinext/icons/handshake_FFFFFF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28257" y="4753737"/>
            <a:ext cx="377190" cy="37719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15200" y="45445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HR Partnerships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7315200" y="496519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from project-based hiring into long-term, retained talent advisory roles.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SAVINEXA · TALENT &amp; HIRING SOLUTIONS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914400"/>
            <a:ext cx="164592" cy="164592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1463040"/>
            <a:ext cx="219456" cy="219456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155448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21440" y="5120640"/>
            <a:ext cx="146304" cy="14630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5669280"/>
            <a:ext cx="182880" cy="18288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95760" y="603504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YOUR TEAM TOGETHER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Talent, Strategically Delivered.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63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SaviNexa — Talent &amp; Hiring Solutions | Recruitment &amp; Talent Acquisition Consultancy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703320"/>
            <a:ext cx="20116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3" name="Image 0" descr="/home/claude/savinext/icons/phone_1E276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6117" y="4227957"/>
            <a:ext cx="276606" cy="27660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50876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3159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Ankit: 7491096101   |   Prachi: 7903983502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22960" y="480060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7" name="Image 1" descr="/home/claude/savinext/icons/envelope_1E276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6117" y="4913757"/>
            <a:ext cx="276606" cy="27660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508760" y="4782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1508760" y="5001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email address ]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22960" y="548640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21" name="Image 2" descr="/home/claude/savinext/icons/pin_1E276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36117" y="5599557"/>
            <a:ext cx="276606" cy="27660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508760" y="5468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1508760" y="5687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office location ]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SAVINEXA · TALENT &amp; HIRING SOLUTIONS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6" name="Logo Chip"/>
          <p:cNvSpPr/>
          <p:nvPr/>
        </p:nvSpPr>
        <p:spPr>
          <a:xfrm>
            <a:off x="822960" y="228600"/>
            <a:ext cx="11887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pic>
        <p:nvPicPr>
          <p:cNvPr id="27" name="SaviNexa Logo" descr="SaviNexa logo"/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32760" y="320040"/>
            <a:ext cx="96936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ADD VALUE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Work With &amp;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Support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5" name="Image 0" descr="/home/claude/savinext/icons/check_1E276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423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25856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&amp; growing businesses hiring their first few employees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8" name="Image 1" descr="/home/claude/savinext/icons/check_1E276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" y="32004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303580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companies scaling production and engineering teams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1" name="Image 2" descr="/home/claude/savinext/icons/check_1E276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960" y="39776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81304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technology companies hiring across engineering, product and support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31520" y="466344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4" name="Image 3" descr="/home/claude/savinext/icons/check_1E2761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2960" y="475488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71600" y="459028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organisations with multiple, ongoing hiring needs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731520" y="5440680"/>
            <a:ext cx="457200" cy="457200"/>
          </a:xfrm>
          <a:prstGeom prst="ellipse">
            <a:avLst/>
          </a:prstGeom>
          <a:solidFill>
            <a:srgbClr val="C9A24B"/>
          </a:solidFill>
          <a:ln/>
        </p:spPr>
      </p:sp>
      <p:pic>
        <p:nvPicPr>
          <p:cNvPr id="17" name="Image 4" descr="/home/claude/savinext/icons/check_1E2761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22960" y="553212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536752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&amp; expanding businesses entering new markets or verticals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7680960" y="2103120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</p:spPr>
      </p:sp>
      <p:sp>
        <p:nvSpPr>
          <p:cNvPr id="20" name="Shape 13"/>
          <p:cNvSpPr/>
          <p:nvPr/>
        </p:nvSpPr>
        <p:spPr>
          <a:xfrm>
            <a:off x="8001000" y="24231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5" descr="/home/claude/savinext/icons/bullseye_FFFFFF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86166" y="2608326"/>
            <a:ext cx="452628" cy="45262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001000" y="3383280"/>
            <a:ext cx="327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 Categories We Support</a:t>
            </a:r>
            <a:endParaRPr lang="en-US" sz="1600" dirty="0"/>
          </a:p>
        </p:txBody>
      </p:sp>
      <p:sp>
        <p:nvSpPr>
          <p:cNvPr id="23" name="Text 15"/>
          <p:cNvSpPr txBox="1"/>
          <p:nvPr/>
        </p:nvSpPr>
        <p:spPr>
          <a:xfrm>
            <a:off x="8001000" y="3749040"/>
            <a:ext cx="327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Software · Non-IT · Manufacturing &amp; Engineering · Sales &amp; Business Development · Marketing &amp; Digital Marketing · HR &amp; Talent Acquisition · Finance &amp; Accounts · Operations &amp; Administration · Supply Chain &amp; Procurement · Customer Support &amp; Success · Quality &amp; Production · Project &amp; Program Management · Management &amp; Leadership Roles — and other industry-specific requirements.</a:t>
            </a:r>
            <a:endParaRPr lang="en-US" sz="1150" dirty="0"/>
          </a:p>
        </p:txBody>
      </p:sp>
      <p:sp>
        <p:nvSpPr>
          <p:cNvPr id="24" name="Text 1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SAVINEXA · TALENT &amp; HIRING SOLUTIONS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2026-09-06T18:25:34Z</dcterms:created>
  <dcterms:modified xsi:type="dcterms:W3CDTF">2026-09-06T18:25:34Z</dcterms:modified>
</cp:coreProperties>
</file>