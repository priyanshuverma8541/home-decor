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84" r:id="rId3"/>
    <p:sldId id="278" r:id="rId4"/>
    <p:sldId id="279" r:id="rId5"/>
    <p:sldId id="256" r:id="rId6"/>
    <p:sldId id="282" r:id="rId7"/>
    <p:sldId id="280" r:id="rId8"/>
    <p:sldId id="281" r:id="rId9"/>
    <p:sldId id="28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35C7-AE92-649F-BF36-70440D7340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A2A239F-14C7-0411-37D7-171E64A66D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244E42-8C2F-DDB0-6A0A-5718EE2B778C}"/>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5" name="Footer Placeholder 4">
            <a:extLst>
              <a:ext uri="{FF2B5EF4-FFF2-40B4-BE49-F238E27FC236}">
                <a16:creationId xmlns:a16="http://schemas.microsoft.com/office/drawing/2014/main" id="{2F827D61-4CBA-0F13-A30B-23BB065603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DF8DC0-9A4D-D2E3-9F11-3823DF16E8F8}"/>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1752994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09511-36A1-2AD3-50C0-C186005E2B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F1D8F7-0876-F6A4-ECCD-D2B53078CD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A4E7B8-46D4-5F30-3EBB-C2D87FA2A0E5}"/>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5" name="Footer Placeholder 4">
            <a:extLst>
              <a:ext uri="{FF2B5EF4-FFF2-40B4-BE49-F238E27FC236}">
                <a16:creationId xmlns:a16="http://schemas.microsoft.com/office/drawing/2014/main" id="{16C31940-F70A-0713-A02F-5C552F2FD3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C0F5E6-F4CA-5F38-4D49-AE4286629129}"/>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239141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BFFF4-78DA-AAC2-2842-D826EA24B2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96606A-93E3-D541-0531-AAD3251B68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AA965E-FCCA-383E-59A8-9DF166B456A2}"/>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5" name="Footer Placeholder 4">
            <a:extLst>
              <a:ext uri="{FF2B5EF4-FFF2-40B4-BE49-F238E27FC236}">
                <a16:creationId xmlns:a16="http://schemas.microsoft.com/office/drawing/2014/main" id="{807B4805-C4B8-EFCE-C59F-9E3B393DB5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A2D596-12CC-1D29-1BEA-84EAAFB20097}"/>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3557030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FD1DC-8C7B-1843-B73D-66BA3585B5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E32A17-F1F7-21D1-BC75-D5DB562F37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0EFFF3-F757-46F9-37BD-DDB23285C5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590A25-55F4-A599-8012-9636A37E1B7E}"/>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6" name="Footer Placeholder 5">
            <a:extLst>
              <a:ext uri="{FF2B5EF4-FFF2-40B4-BE49-F238E27FC236}">
                <a16:creationId xmlns:a16="http://schemas.microsoft.com/office/drawing/2014/main" id="{615AA6B5-CF61-B376-83C1-83F5E07326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0AA2F4-DF81-C4CC-3C6B-0FFE5D5A233B}"/>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2280958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83B4-B1D8-1912-02D9-30AA571FC0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377A89-1314-77F7-460E-610BB1276B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52B105-F827-C77D-CE39-735EDA1B2B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4BFF834-E1CA-C076-3743-EF402E1356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0E05F1-DFB0-C2D6-B2A9-142687187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909F03-946B-CA8D-E6AF-13483DBBDCCE}"/>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8" name="Footer Placeholder 7">
            <a:extLst>
              <a:ext uri="{FF2B5EF4-FFF2-40B4-BE49-F238E27FC236}">
                <a16:creationId xmlns:a16="http://schemas.microsoft.com/office/drawing/2014/main" id="{B3BF5B35-96AF-408B-D1F6-57708D8180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F7EE1F-8840-E20D-970C-F3AEE438BF39}"/>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1543720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7FA54-FFF4-41E2-5B63-60ED8E06B5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D97398-23AB-A183-CD9A-FDC5897E53D0}"/>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4" name="Footer Placeholder 3">
            <a:extLst>
              <a:ext uri="{FF2B5EF4-FFF2-40B4-BE49-F238E27FC236}">
                <a16:creationId xmlns:a16="http://schemas.microsoft.com/office/drawing/2014/main" id="{29A40469-57EA-9928-1148-441E5330691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2285A6-B648-B52E-7D2C-D68949B6A266}"/>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307410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B755A2-AFA5-5341-673F-388BBA8CAE63}"/>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3" name="Footer Placeholder 2">
            <a:extLst>
              <a:ext uri="{FF2B5EF4-FFF2-40B4-BE49-F238E27FC236}">
                <a16:creationId xmlns:a16="http://schemas.microsoft.com/office/drawing/2014/main" id="{FD9C8638-5504-07D6-7335-9EFD8B602C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93A859-3510-A09D-F003-11A1513766EF}"/>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4272351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1BC38-B922-90C4-E5D9-7FEBFE8E5B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B1609B-2C51-6495-06B7-CEDE1D4344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EC554E-F25F-D3FA-6DE0-217D3D3BF2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40ADFA-61A7-18AB-82B5-9DA0935A3A56}"/>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6" name="Footer Placeholder 5">
            <a:extLst>
              <a:ext uri="{FF2B5EF4-FFF2-40B4-BE49-F238E27FC236}">
                <a16:creationId xmlns:a16="http://schemas.microsoft.com/office/drawing/2014/main" id="{4265541E-FBD5-B756-0C1C-6C5C1FCE4A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A762A0-88BC-B87F-78CE-714150752C5B}"/>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2241419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0815B-D538-AF2F-2C6A-4B06033680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5858E5-039D-E8D8-EB90-AE93EC4D11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12ECCE-4EE9-E163-922B-AD490B1E27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068794-3423-675E-EB8C-072C1D7892CD}"/>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6" name="Footer Placeholder 5">
            <a:extLst>
              <a:ext uri="{FF2B5EF4-FFF2-40B4-BE49-F238E27FC236}">
                <a16:creationId xmlns:a16="http://schemas.microsoft.com/office/drawing/2014/main" id="{AE01D46B-F423-8E1E-ADE6-2462502691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76E280-CBA3-71C2-5321-6B0B5818B557}"/>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815027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6705-E81B-A62B-56E9-E20E25A09B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0BC157-89D3-E9C9-E47A-749CE1D1CD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C63DEE-A527-3C58-D4DD-0D9F0330AEE0}"/>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5" name="Footer Placeholder 4">
            <a:extLst>
              <a:ext uri="{FF2B5EF4-FFF2-40B4-BE49-F238E27FC236}">
                <a16:creationId xmlns:a16="http://schemas.microsoft.com/office/drawing/2014/main" id="{0048176A-7822-BAC2-4C4E-5D0A098FF5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29AB07-80BC-C3EF-97DA-4D5DA1D8DE87}"/>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130090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F1294C-3BED-76CB-28F9-EB10B5D0454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8E9BC2-3BDF-16CE-4ED8-D2E6909890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9FE98-A529-ED46-92E1-49BC072E03B3}"/>
              </a:ext>
            </a:extLst>
          </p:cNvPr>
          <p:cNvSpPr>
            <a:spLocks noGrp="1"/>
          </p:cNvSpPr>
          <p:nvPr>
            <p:ph type="dt" sz="half" idx="10"/>
          </p:nvPr>
        </p:nvSpPr>
        <p:spPr/>
        <p:txBody>
          <a:bodyPr/>
          <a:lstStyle/>
          <a:p>
            <a:fld id="{E11ED29A-A02C-4ED0-AE85-CB2EED5EA631}" type="datetimeFigureOut">
              <a:rPr lang="en-IN" smtClean="0"/>
              <a:t>09-02-2023</a:t>
            </a:fld>
            <a:endParaRPr lang="en-IN"/>
          </a:p>
        </p:txBody>
      </p:sp>
      <p:sp>
        <p:nvSpPr>
          <p:cNvPr id="5" name="Footer Placeholder 4">
            <a:extLst>
              <a:ext uri="{FF2B5EF4-FFF2-40B4-BE49-F238E27FC236}">
                <a16:creationId xmlns:a16="http://schemas.microsoft.com/office/drawing/2014/main" id="{758D0084-6FE4-EFF2-D3CC-BCCB5B5C30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5B5DE9-4283-3EE4-91B6-18C0B62AC8BF}"/>
              </a:ext>
            </a:extLst>
          </p:cNvPr>
          <p:cNvSpPr>
            <a:spLocks noGrp="1"/>
          </p:cNvSpPr>
          <p:nvPr>
            <p:ph type="sldNum" sz="quarter" idx="12"/>
          </p:nvPr>
        </p:nvSpPr>
        <p:spPr/>
        <p:txBody>
          <a:bodyPr/>
          <a:lstStyle/>
          <a:p>
            <a:fld id="{27315A0F-3BE1-4FE4-822C-3EB5C0AE80C6}" type="slidenum">
              <a:rPr lang="en-IN" smtClean="0"/>
              <a:t>‹#›</a:t>
            </a:fld>
            <a:endParaRPr lang="en-IN"/>
          </a:p>
        </p:txBody>
      </p:sp>
    </p:spTree>
    <p:extLst>
      <p:ext uri="{BB962C8B-B14F-4D97-AF65-F5344CB8AC3E}">
        <p14:creationId xmlns:p14="http://schemas.microsoft.com/office/powerpoint/2010/main" val="109766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3F64D1-55C0-CBF0-7996-4FFDF8B4C0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4B7835-6C26-5E69-8372-8AD00B17BE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18A281-EE09-1146-446F-674A45E74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1ED29A-A02C-4ED0-AE85-CB2EED5EA631}" type="datetimeFigureOut">
              <a:rPr lang="en-IN" smtClean="0"/>
              <a:t>09-02-2023</a:t>
            </a:fld>
            <a:endParaRPr lang="en-IN"/>
          </a:p>
        </p:txBody>
      </p:sp>
      <p:sp>
        <p:nvSpPr>
          <p:cNvPr id="5" name="Footer Placeholder 4">
            <a:extLst>
              <a:ext uri="{FF2B5EF4-FFF2-40B4-BE49-F238E27FC236}">
                <a16:creationId xmlns:a16="http://schemas.microsoft.com/office/drawing/2014/main" id="{478621B8-F48D-168D-00E5-32D9A198BF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A136922-10CA-D35A-6035-00CBC6A88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315A0F-3BE1-4FE4-822C-3EB5C0AE80C6}" type="slidenum">
              <a:rPr lang="en-IN" smtClean="0"/>
              <a:t>‹#›</a:t>
            </a:fld>
            <a:endParaRPr lang="en-IN"/>
          </a:p>
        </p:txBody>
      </p:sp>
    </p:spTree>
    <p:extLst>
      <p:ext uri="{BB962C8B-B14F-4D97-AF65-F5344CB8AC3E}">
        <p14:creationId xmlns:p14="http://schemas.microsoft.com/office/powerpoint/2010/main" val="3641942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D9DF-0AF5-DA8C-2902-DC676FE79050}"/>
              </a:ext>
            </a:extLst>
          </p:cNvPr>
          <p:cNvSpPr>
            <a:spLocks noGrp="1"/>
          </p:cNvSpPr>
          <p:nvPr>
            <p:ph type="title"/>
          </p:nvPr>
        </p:nvSpPr>
        <p:spPr>
          <a:xfrm>
            <a:off x="838200" y="365126"/>
            <a:ext cx="10515600" cy="894508"/>
          </a:xfrm>
        </p:spPr>
        <p:txBody>
          <a:bodyPr>
            <a:normAutofit/>
          </a:bodyPr>
          <a:lstStyle/>
          <a:p>
            <a:r>
              <a:rPr lang="en-IN" sz="2800" b="1" dirty="0">
                <a:solidFill>
                  <a:srgbClr val="002060"/>
                </a:solidFill>
              </a:rPr>
              <a:t>Recap : Classification vs Regression</a:t>
            </a:r>
          </a:p>
        </p:txBody>
      </p:sp>
      <p:graphicFrame>
        <p:nvGraphicFramePr>
          <p:cNvPr id="4" name="Table 4">
            <a:extLst>
              <a:ext uri="{FF2B5EF4-FFF2-40B4-BE49-F238E27FC236}">
                <a16:creationId xmlns:a16="http://schemas.microsoft.com/office/drawing/2014/main" id="{D42AC527-52AC-FEFE-3092-E5CC566D8635}"/>
              </a:ext>
            </a:extLst>
          </p:cNvPr>
          <p:cNvGraphicFramePr>
            <a:graphicFrameLocks noGrp="1"/>
          </p:cNvGraphicFramePr>
          <p:nvPr>
            <p:ph idx="1"/>
          </p:nvPr>
        </p:nvGraphicFramePr>
        <p:xfrm>
          <a:off x="854439" y="1259635"/>
          <a:ext cx="10499361" cy="5088915"/>
        </p:xfrm>
        <a:graphic>
          <a:graphicData uri="http://schemas.openxmlformats.org/drawingml/2006/table">
            <a:tbl>
              <a:tblPr firstRow="1" bandRow="1">
                <a:tableStyleId>{5C22544A-7EE6-4342-B048-85BDC9FD1C3A}</a:tableStyleId>
              </a:tblPr>
              <a:tblGrid>
                <a:gridCol w="5216577">
                  <a:extLst>
                    <a:ext uri="{9D8B030D-6E8A-4147-A177-3AD203B41FA5}">
                      <a16:colId xmlns:a16="http://schemas.microsoft.com/office/drawing/2014/main" val="2089171196"/>
                    </a:ext>
                  </a:extLst>
                </a:gridCol>
                <a:gridCol w="5282784">
                  <a:extLst>
                    <a:ext uri="{9D8B030D-6E8A-4147-A177-3AD203B41FA5}">
                      <a16:colId xmlns:a16="http://schemas.microsoft.com/office/drawing/2014/main" val="3122653788"/>
                    </a:ext>
                  </a:extLst>
                </a:gridCol>
              </a:tblGrid>
              <a:tr h="1696305">
                <a:tc>
                  <a:txBody>
                    <a:bodyPr/>
                    <a:lstStyle/>
                    <a:p>
                      <a:r>
                        <a:rPr lang="en-IN" sz="2400" b="0" dirty="0">
                          <a:solidFill>
                            <a:schemeClr val="tx1"/>
                          </a:solidFill>
                        </a:rPr>
                        <a:t>Classification means to group the output into a class.</a:t>
                      </a:r>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algn="l" defTabSz="914400" rtl="0" eaLnBrk="1" latinLnBrk="0" hangingPunct="1"/>
                      <a:r>
                        <a:rPr lang="en-IN" sz="2400" b="0" kern="1200" dirty="0">
                          <a:solidFill>
                            <a:schemeClr val="tx1"/>
                          </a:solidFill>
                          <a:latin typeface="+mn-lt"/>
                          <a:ea typeface="+mn-ea"/>
                          <a:cs typeface="+mn-cs"/>
                        </a:rPr>
                        <a:t>Regression means to predict the output value using training data.</a:t>
                      </a:r>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511491884"/>
                  </a:ext>
                </a:extLst>
              </a:tr>
              <a:tr h="1696305">
                <a:tc>
                  <a:txBody>
                    <a:bodyPr/>
                    <a:lstStyle/>
                    <a:p>
                      <a:pPr marL="0" algn="l" defTabSz="914400" rtl="0" eaLnBrk="1" latinLnBrk="0" hangingPunct="1"/>
                      <a:r>
                        <a:rPr lang="en-IN" sz="2400" b="0" kern="1200" dirty="0">
                          <a:solidFill>
                            <a:schemeClr val="tx1"/>
                          </a:solidFill>
                          <a:latin typeface="+mn-lt"/>
                          <a:ea typeface="+mn-ea"/>
                          <a:cs typeface="+mn-cs"/>
                        </a:rPr>
                        <a:t>If it is discrete/categorical variable, then it is classification problem.</a:t>
                      </a:r>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2400" b="0" kern="1200" dirty="0">
                          <a:solidFill>
                            <a:schemeClr val="tx1"/>
                          </a:solidFill>
                          <a:latin typeface="+mn-lt"/>
                          <a:ea typeface="+mn-ea"/>
                          <a:cs typeface="+mn-cs"/>
                        </a:rPr>
                        <a:t>If it is a real number/continuous, then it is regression problem.</a:t>
                      </a:r>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066620350"/>
                  </a:ext>
                </a:extLst>
              </a:tr>
              <a:tr h="1696305">
                <a:tc>
                  <a:txBody>
                    <a:bodyPr/>
                    <a:lstStyle/>
                    <a:p>
                      <a:pPr marL="0" algn="l" defTabSz="914400" rtl="0" eaLnBrk="1" latinLnBrk="0" hangingPunct="1"/>
                      <a:r>
                        <a:rPr lang="en-IN" sz="2400" b="0" kern="1200" dirty="0">
                          <a:solidFill>
                            <a:schemeClr val="tx1"/>
                          </a:solidFill>
                          <a:latin typeface="+mn-lt"/>
                          <a:ea typeface="+mn-ea"/>
                          <a:cs typeface="+mn-cs"/>
                        </a:rPr>
                        <a:t>Classification to predict the type of </a:t>
                      </a:r>
                      <a:r>
                        <a:rPr lang="en-IN" sz="2400" b="0" kern="1200" dirty="0" err="1">
                          <a:solidFill>
                            <a:schemeClr val="tx1"/>
                          </a:solidFill>
                          <a:latin typeface="+mn-lt"/>
                          <a:ea typeface="+mn-ea"/>
                          <a:cs typeface="+mn-cs"/>
                        </a:rPr>
                        <a:t>tumor</a:t>
                      </a:r>
                      <a:r>
                        <a:rPr lang="en-IN" sz="2400" b="0" kern="1200" dirty="0">
                          <a:solidFill>
                            <a:schemeClr val="tx1"/>
                          </a:solidFill>
                          <a:latin typeface="+mn-lt"/>
                          <a:ea typeface="+mn-ea"/>
                          <a:cs typeface="+mn-cs"/>
                        </a:rPr>
                        <a:t> </a:t>
                      </a:r>
                      <a:r>
                        <a:rPr lang="en-IN" sz="2400" b="0" kern="1200" dirty="0" err="1">
                          <a:solidFill>
                            <a:schemeClr val="tx1"/>
                          </a:solidFill>
                          <a:latin typeface="+mn-lt"/>
                          <a:ea typeface="+mn-ea"/>
                          <a:cs typeface="+mn-cs"/>
                        </a:rPr>
                        <a:t>ie</a:t>
                      </a:r>
                      <a:r>
                        <a:rPr lang="en-IN" sz="2400" b="0" kern="1200" dirty="0">
                          <a:solidFill>
                            <a:schemeClr val="tx1"/>
                          </a:solidFill>
                          <a:latin typeface="+mn-lt"/>
                          <a:ea typeface="+mn-ea"/>
                          <a:cs typeface="+mn-cs"/>
                        </a:rPr>
                        <a:t>; harmful or not harmful using training data.</a:t>
                      </a:r>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algn="l" defTabSz="914400" rtl="0" eaLnBrk="1" latinLnBrk="0" hangingPunct="1"/>
                      <a:r>
                        <a:rPr lang="en-IN" sz="2400" b="0" kern="1200" dirty="0">
                          <a:solidFill>
                            <a:schemeClr val="tx1"/>
                          </a:solidFill>
                          <a:latin typeface="+mn-lt"/>
                          <a:ea typeface="+mn-ea"/>
                          <a:cs typeface="+mn-cs"/>
                        </a:rPr>
                        <a:t>Regression is to predict the house price from training data.</a:t>
                      </a:r>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394052033"/>
                  </a:ext>
                </a:extLst>
              </a:tr>
            </a:tbl>
          </a:graphicData>
        </a:graphic>
      </p:graphicFrame>
    </p:spTree>
    <p:extLst>
      <p:ext uri="{BB962C8B-B14F-4D97-AF65-F5344CB8AC3E}">
        <p14:creationId xmlns:p14="http://schemas.microsoft.com/office/powerpoint/2010/main" val="1853386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8499D4-AF37-57B3-DD33-F9CBC7BEA3BD}"/>
              </a:ext>
            </a:extLst>
          </p:cNvPr>
          <p:cNvSpPr>
            <a:spLocks noGrp="1"/>
          </p:cNvSpPr>
          <p:nvPr>
            <p:ph idx="1"/>
          </p:nvPr>
        </p:nvSpPr>
        <p:spPr/>
        <p:txBody>
          <a:bodyPr/>
          <a:lstStyle/>
          <a:p>
            <a:pPr marL="0" indent="0">
              <a:buNone/>
            </a:pPr>
            <a:r>
              <a:rPr lang="en-IN" u="sng" dirty="0">
                <a:solidFill>
                  <a:srgbClr val="0070C0"/>
                </a:solidFill>
              </a:rPr>
              <a:t>Recap</a:t>
            </a:r>
            <a:r>
              <a:rPr lang="en-IN" dirty="0">
                <a:solidFill>
                  <a:srgbClr val="0070C0"/>
                </a:solidFill>
              </a:rPr>
              <a:t> </a:t>
            </a:r>
          </a:p>
          <a:p>
            <a:r>
              <a:rPr lang="en-IN" dirty="0">
                <a:solidFill>
                  <a:srgbClr val="0070C0"/>
                </a:solidFill>
              </a:rPr>
              <a:t>Supervised Learning vs Unsupervised Learning ?</a:t>
            </a:r>
            <a:endParaRPr lang="en-IN" dirty="0"/>
          </a:p>
        </p:txBody>
      </p:sp>
    </p:spTree>
    <p:extLst>
      <p:ext uri="{BB962C8B-B14F-4D97-AF65-F5344CB8AC3E}">
        <p14:creationId xmlns:p14="http://schemas.microsoft.com/office/powerpoint/2010/main" val="2858359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4FA06-D5F2-6C9C-D8DE-C487766B7423}"/>
              </a:ext>
            </a:extLst>
          </p:cNvPr>
          <p:cNvSpPr>
            <a:spLocks noGrp="1"/>
          </p:cNvSpPr>
          <p:nvPr>
            <p:ph type="title"/>
          </p:nvPr>
        </p:nvSpPr>
        <p:spPr>
          <a:xfrm>
            <a:off x="838200" y="365125"/>
            <a:ext cx="10515600" cy="797469"/>
          </a:xfrm>
        </p:spPr>
        <p:txBody>
          <a:bodyPr>
            <a:normAutofit/>
          </a:bodyPr>
          <a:lstStyle/>
          <a:p>
            <a:r>
              <a:rPr lang="en-IN" sz="2800" b="1" dirty="0">
                <a:solidFill>
                  <a:srgbClr val="0070C0"/>
                </a:solidFill>
              </a:rPr>
              <a:t>Few terminologies frequently used in ML</a:t>
            </a:r>
          </a:p>
        </p:txBody>
      </p:sp>
      <p:sp>
        <p:nvSpPr>
          <p:cNvPr id="3" name="Content Placeholder 2">
            <a:extLst>
              <a:ext uri="{FF2B5EF4-FFF2-40B4-BE49-F238E27FC236}">
                <a16:creationId xmlns:a16="http://schemas.microsoft.com/office/drawing/2014/main" id="{A12B83D6-AA24-61C8-7A52-8C830343F407}"/>
              </a:ext>
            </a:extLst>
          </p:cNvPr>
          <p:cNvSpPr>
            <a:spLocks noGrp="1"/>
          </p:cNvSpPr>
          <p:nvPr>
            <p:ph idx="1"/>
          </p:nvPr>
        </p:nvSpPr>
        <p:spPr>
          <a:xfrm>
            <a:off x="838200" y="1436914"/>
            <a:ext cx="10515600" cy="5159829"/>
          </a:xfrm>
        </p:spPr>
        <p:txBody>
          <a:bodyPr>
            <a:normAutofit fontScale="85000" lnSpcReduction="10000"/>
          </a:bodyPr>
          <a:lstStyle/>
          <a:p>
            <a:r>
              <a:rPr lang="en-IN" sz="2400" dirty="0">
                <a:solidFill>
                  <a:srgbClr val="0070C0"/>
                </a:solidFill>
              </a:rPr>
              <a:t>Independent Variables</a:t>
            </a:r>
            <a:r>
              <a:rPr lang="en-IN" sz="2400" dirty="0"/>
              <a:t> – also called Features/Predictor/Explanatory Variable</a:t>
            </a:r>
          </a:p>
          <a:p>
            <a:r>
              <a:rPr lang="en-IN" sz="2400" dirty="0">
                <a:solidFill>
                  <a:srgbClr val="0070C0"/>
                </a:solidFill>
              </a:rPr>
              <a:t>Dependent Variables</a:t>
            </a:r>
            <a:r>
              <a:rPr lang="en-IN" sz="2400" dirty="0"/>
              <a:t> – also called Outcome/Response</a:t>
            </a:r>
          </a:p>
          <a:p>
            <a:r>
              <a:rPr lang="en-IN" sz="2400" dirty="0">
                <a:solidFill>
                  <a:srgbClr val="0070C0"/>
                </a:solidFill>
              </a:rPr>
              <a:t>Train</a:t>
            </a:r>
            <a:r>
              <a:rPr lang="en-IN" sz="2400" dirty="0"/>
              <a:t> – training the model means creating the model.</a:t>
            </a:r>
          </a:p>
          <a:p>
            <a:r>
              <a:rPr lang="en-IN" sz="2400" dirty="0">
                <a:solidFill>
                  <a:srgbClr val="0070C0"/>
                </a:solidFill>
              </a:rPr>
              <a:t>Test</a:t>
            </a:r>
            <a:r>
              <a:rPr lang="en-IN" sz="2400" dirty="0"/>
              <a:t> – testing the model meaning checking the accuracy of the model.</a:t>
            </a:r>
          </a:p>
          <a:p>
            <a:r>
              <a:rPr lang="en-IN" sz="2400" dirty="0">
                <a:solidFill>
                  <a:srgbClr val="0070C0"/>
                </a:solidFill>
              </a:rPr>
              <a:t>Dataset</a:t>
            </a:r>
            <a:r>
              <a:rPr lang="en-IN" sz="2400" dirty="0"/>
              <a:t> – contains a collection of several pieces of information that are used to train the ML algorithm. </a:t>
            </a:r>
          </a:p>
          <a:p>
            <a:r>
              <a:rPr lang="en-IN" sz="2400" dirty="0">
                <a:solidFill>
                  <a:srgbClr val="0070C0"/>
                </a:solidFill>
              </a:rPr>
              <a:t>Bias</a:t>
            </a:r>
            <a:r>
              <a:rPr lang="en-IN" sz="2400" dirty="0"/>
              <a:t> – While making predictions, a difference occurs between the predicted values made by the model and the actual/expected values. This difference is called bias error. </a:t>
            </a:r>
          </a:p>
          <a:p>
            <a:pPr marL="0" indent="0" algn="just">
              <a:buNone/>
            </a:pPr>
            <a:r>
              <a:rPr lang="en-US" sz="2400" dirty="0">
                <a:solidFill>
                  <a:srgbClr val="FF0000"/>
                </a:solidFill>
              </a:rPr>
              <a:t>Low Bias: </a:t>
            </a:r>
            <a:r>
              <a:rPr lang="en-US" sz="2400" dirty="0"/>
              <a:t>A low bias model will make fewer assumptions about the form of the target function.</a:t>
            </a:r>
          </a:p>
          <a:p>
            <a:pPr marL="0" indent="0" algn="just">
              <a:buNone/>
            </a:pPr>
            <a:r>
              <a:rPr lang="en-US" sz="2400" dirty="0">
                <a:solidFill>
                  <a:srgbClr val="FF0000"/>
                </a:solidFill>
              </a:rPr>
              <a:t>High Bias: </a:t>
            </a:r>
            <a:r>
              <a:rPr lang="en-US" sz="2400" dirty="0"/>
              <a:t>A model with a high bias makes more assumptions, and the model becomes unable to capture the important features of our dataset. A high bias model also cannot perform well on new data.</a:t>
            </a:r>
          </a:p>
          <a:p>
            <a:r>
              <a:rPr lang="en-IN" sz="2400" dirty="0">
                <a:solidFill>
                  <a:srgbClr val="0070C0"/>
                </a:solidFill>
              </a:rPr>
              <a:t>Variance</a:t>
            </a:r>
            <a:r>
              <a:rPr lang="en-IN" sz="2400" dirty="0"/>
              <a:t> – specifies the amount of variation in the prediction if different training dataset is used. Ideally a model should have low variance meaning it is able to understand the mapping between the input and output variables.</a:t>
            </a:r>
          </a:p>
          <a:p>
            <a:pPr marL="0" indent="0">
              <a:buNone/>
            </a:pPr>
            <a:r>
              <a:rPr lang="en-IN" sz="2400" dirty="0">
                <a:solidFill>
                  <a:srgbClr val="0070C0"/>
                </a:solidFill>
              </a:rPr>
              <a:t>The combination of low bias and low variance is ideal for a ML model.</a:t>
            </a:r>
          </a:p>
          <a:p>
            <a:pPr marL="0" indent="0">
              <a:buNone/>
            </a:pPr>
            <a:endParaRPr lang="en-IN" sz="2400" dirty="0"/>
          </a:p>
        </p:txBody>
      </p:sp>
    </p:spTree>
    <p:extLst>
      <p:ext uri="{BB962C8B-B14F-4D97-AF65-F5344CB8AC3E}">
        <p14:creationId xmlns:p14="http://schemas.microsoft.com/office/powerpoint/2010/main" val="1128237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7009CE-D97E-B0EE-2496-430EFE96FD17}"/>
              </a:ext>
            </a:extLst>
          </p:cNvPr>
          <p:cNvSpPr>
            <a:spLocks noGrp="1"/>
          </p:cNvSpPr>
          <p:nvPr>
            <p:ph idx="1"/>
          </p:nvPr>
        </p:nvSpPr>
        <p:spPr>
          <a:xfrm>
            <a:off x="888274" y="374152"/>
            <a:ext cx="10465526" cy="5793383"/>
          </a:xfrm>
        </p:spPr>
        <p:txBody>
          <a:bodyPr>
            <a:normAutofit/>
          </a:bodyPr>
          <a:lstStyle/>
          <a:p>
            <a:pPr marL="0" indent="0">
              <a:buNone/>
            </a:pPr>
            <a:r>
              <a:rPr lang="en-US" sz="2000" b="0" i="0" dirty="0">
                <a:solidFill>
                  <a:srgbClr val="333333"/>
                </a:solidFill>
                <a:effectLst/>
                <a:latin typeface="inter-regular"/>
              </a:rPr>
              <a:t>High variance can be identified if the model has: </a:t>
            </a:r>
          </a:p>
          <a:p>
            <a:pPr marL="0" indent="0">
              <a:buNone/>
            </a:pPr>
            <a:r>
              <a:rPr lang="en-US" sz="2000" b="0" i="0" dirty="0">
                <a:solidFill>
                  <a:schemeClr val="accent1"/>
                </a:solidFill>
                <a:effectLst/>
                <a:latin typeface="inter-regular"/>
              </a:rPr>
              <a:t>Low training error and high test error.</a:t>
            </a:r>
          </a:p>
          <a:p>
            <a:pPr marL="0" indent="0">
              <a:buNone/>
            </a:pPr>
            <a:r>
              <a:rPr lang="en-US" sz="2000" b="0" i="0" dirty="0">
                <a:solidFill>
                  <a:srgbClr val="333333"/>
                </a:solidFill>
                <a:effectLst/>
                <a:latin typeface="inter-regular"/>
              </a:rPr>
              <a:t>High Bias can be identified if the model has:</a:t>
            </a:r>
            <a:endParaRPr lang="en-IN" sz="2000" b="0" i="0" dirty="0">
              <a:solidFill>
                <a:srgbClr val="333333"/>
              </a:solidFill>
              <a:effectLst/>
              <a:latin typeface="inter-regular"/>
            </a:endParaRPr>
          </a:p>
          <a:p>
            <a:pPr marL="0" indent="0">
              <a:buNone/>
            </a:pPr>
            <a:r>
              <a:rPr lang="en-US" sz="2000" b="0" i="0" dirty="0">
                <a:solidFill>
                  <a:schemeClr val="accent1"/>
                </a:solidFill>
                <a:effectLst/>
                <a:latin typeface="inter-regular"/>
              </a:rPr>
              <a:t>High training error and the test error is almost similar to training error.</a:t>
            </a:r>
          </a:p>
          <a:p>
            <a:pPr marL="0" indent="0">
              <a:buNone/>
            </a:pPr>
            <a:endParaRPr lang="en-US" sz="2000" dirty="0">
              <a:solidFill>
                <a:schemeClr val="accent1"/>
              </a:solidFill>
              <a:latin typeface="inter-regular"/>
            </a:endParaRPr>
          </a:p>
          <a:p>
            <a:pPr marL="0" indent="0">
              <a:buNone/>
            </a:pPr>
            <a:endParaRPr lang="en-US" sz="2000" dirty="0">
              <a:solidFill>
                <a:schemeClr val="accent1"/>
              </a:solidFill>
              <a:latin typeface="inter-regular"/>
            </a:endParaRPr>
          </a:p>
          <a:p>
            <a:pPr marL="0" indent="0">
              <a:buNone/>
            </a:pPr>
            <a:endParaRPr lang="en-US" sz="2000" b="0" i="0" dirty="0">
              <a:solidFill>
                <a:schemeClr val="accent1"/>
              </a:solidFill>
              <a:effectLst/>
              <a:latin typeface="inter-regular"/>
            </a:endParaRPr>
          </a:p>
          <a:p>
            <a:pPr marL="0" indent="0">
              <a:buNone/>
            </a:pPr>
            <a:endParaRPr lang="en-IN" sz="2000" dirty="0"/>
          </a:p>
        </p:txBody>
      </p:sp>
      <p:pic>
        <p:nvPicPr>
          <p:cNvPr id="2052" name="Picture 4" descr="Bias and Variance in Machine Learning">
            <a:extLst>
              <a:ext uri="{FF2B5EF4-FFF2-40B4-BE49-F238E27FC236}">
                <a16:creationId xmlns:a16="http://schemas.microsoft.com/office/drawing/2014/main" id="{626CFCD5-17DB-4510-77B8-D441B9876D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3746" y="2248678"/>
            <a:ext cx="5829754" cy="2621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82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CC64-6014-1ED9-754B-16C88CD8EF15}"/>
              </a:ext>
            </a:extLst>
          </p:cNvPr>
          <p:cNvSpPr>
            <a:spLocks noGrp="1"/>
          </p:cNvSpPr>
          <p:nvPr>
            <p:ph type="ctrTitle"/>
          </p:nvPr>
        </p:nvSpPr>
        <p:spPr>
          <a:xfrm>
            <a:off x="1455576" y="65314"/>
            <a:ext cx="9212424" cy="2024743"/>
          </a:xfrm>
        </p:spPr>
        <p:txBody>
          <a:bodyPr>
            <a:normAutofit fontScale="90000"/>
          </a:bodyPr>
          <a:lstStyle/>
          <a:p>
            <a:br>
              <a:rPr lang="en-US" sz="2700" b="0" i="0" dirty="0">
                <a:solidFill>
                  <a:srgbClr val="610B38"/>
                </a:solidFill>
                <a:effectLst/>
              </a:rPr>
            </a:br>
            <a:br>
              <a:rPr lang="en-US" sz="2700" b="0" i="0" dirty="0">
                <a:solidFill>
                  <a:srgbClr val="610B38"/>
                </a:solidFill>
                <a:effectLst/>
              </a:rPr>
            </a:br>
            <a:r>
              <a:rPr lang="en-US" sz="2700" b="0" i="0" dirty="0">
                <a:solidFill>
                  <a:srgbClr val="610B38"/>
                </a:solidFill>
                <a:effectLst/>
              </a:rPr>
              <a:t>Different Combinations of Bias-Variance</a:t>
            </a:r>
            <a:br>
              <a:rPr lang="en-US" sz="2700" b="0" i="0" dirty="0">
                <a:solidFill>
                  <a:srgbClr val="610B38"/>
                </a:solidFill>
                <a:effectLst/>
              </a:rPr>
            </a:br>
            <a:r>
              <a:rPr lang="en-US" sz="2700" b="0" i="0" dirty="0">
                <a:solidFill>
                  <a:srgbClr val="333333"/>
                </a:solidFill>
                <a:effectLst/>
              </a:rPr>
              <a:t>There are four possible combinations of bias and variances</a:t>
            </a:r>
            <a:br>
              <a:rPr lang="en-US" b="0" i="0" dirty="0">
                <a:solidFill>
                  <a:srgbClr val="333333"/>
                </a:solidFill>
                <a:effectLst/>
                <a:latin typeface="inter-regular"/>
              </a:rPr>
            </a:br>
            <a:endParaRPr lang="en-IN" dirty="0"/>
          </a:p>
        </p:txBody>
      </p:sp>
      <p:sp>
        <p:nvSpPr>
          <p:cNvPr id="3" name="Subtitle 2">
            <a:extLst>
              <a:ext uri="{FF2B5EF4-FFF2-40B4-BE49-F238E27FC236}">
                <a16:creationId xmlns:a16="http://schemas.microsoft.com/office/drawing/2014/main" id="{DC65D943-E76F-AC38-2BA8-EC040EB40D74}"/>
              </a:ext>
            </a:extLst>
          </p:cNvPr>
          <p:cNvSpPr>
            <a:spLocks noGrp="1"/>
          </p:cNvSpPr>
          <p:nvPr>
            <p:ph type="subTitle" idx="1"/>
          </p:nvPr>
        </p:nvSpPr>
        <p:spPr>
          <a:xfrm>
            <a:off x="1524000" y="2024743"/>
            <a:ext cx="9144000" cy="4245428"/>
          </a:xfrm>
        </p:spPr>
        <p:txBody>
          <a:bodyPr>
            <a:normAutofit fontScale="85000" lnSpcReduction="10000"/>
          </a:bodyPr>
          <a:lstStyle/>
          <a:p>
            <a:pPr algn="l"/>
            <a:r>
              <a:rPr lang="en-US" b="1" i="0" dirty="0">
                <a:solidFill>
                  <a:srgbClr val="000000"/>
                </a:solidFill>
                <a:effectLst/>
                <a:latin typeface="inter-bold"/>
              </a:rPr>
              <a:t>Low-Bias, Low-Variance:</a:t>
            </a:r>
            <a:br>
              <a:rPr lang="en-US" b="0" i="0" dirty="0">
                <a:solidFill>
                  <a:srgbClr val="000000"/>
                </a:solidFill>
                <a:effectLst/>
                <a:latin typeface="inter-regular"/>
              </a:rPr>
            </a:br>
            <a:r>
              <a:rPr lang="en-US" b="0" i="0" dirty="0">
                <a:solidFill>
                  <a:srgbClr val="000000"/>
                </a:solidFill>
                <a:effectLst/>
                <a:latin typeface="inter-regular"/>
              </a:rPr>
              <a:t>The combination of low bias and low variance shows an ideal machine learning model. However, it is not possible practically.</a:t>
            </a:r>
          </a:p>
          <a:p>
            <a:pPr algn="just"/>
            <a:r>
              <a:rPr lang="en-US" b="1" i="0" dirty="0">
                <a:solidFill>
                  <a:srgbClr val="000000"/>
                </a:solidFill>
                <a:effectLst/>
                <a:latin typeface="inter-bold"/>
              </a:rPr>
              <a:t>Low-Bias, High-Variance:</a:t>
            </a:r>
            <a:r>
              <a:rPr lang="en-US" b="0" i="0" dirty="0">
                <a:solidFill>
                  <a:srgbClr val="000000"/>
                </a:solidFill>
                <a:effectLst/>
                <a:latin typeface="inter-regular"/>
              </a:rPr>
              <a:t> </a:t>
            </a:r>
          </a:p>
          <a:p>
            <a:pPr algn="just"/>
            <a:r>
              <a:rPr lang="en-US" b="0" i="0" dirty="0">
                <a:solidFill>
                  <a:srgbClr val="000000"/>
                </a:solidFill>
                <a:effectLst/>
                <a:latin typeface="inter-regular"/>
              </a:rPr>
              <a:t>With low bias and high variance, model predictions are inconsistent and accurate on average. This case occurs when the model learns with a large number of parameters and hence leads to an </a:t>
            </a:r>
            <a:r>
              <a:rPr lang="en-US" b="1" i="0" dirty="0">
                <a:solidFill>
                  <a:srgbClr val="000000"/>
                </a:solidFill>
                <a:effectLst/>
                <a:latin typeface="inter-bold"/>
              </a:rPr>
              <a:t>overfitting</a:t>
            </a:r>
            <a:endParaRPr lang="en-US" b="0" i="0" dirty="0">
              <a:solidFill>
                <a:srgbClr val="000000"/>
              </a:solidFill>
              <a:effectLst/>
              <a:latin typeface="inter-regular"/>
            </a:endParaRPr>
          </a:p>
          <a:p>
            <a:pPr algn="just"/>
            <a:r>
              <a:rPr lang="en-US" b="1" i="0" dirty="0">
                <a:solidFill>
                  <a:srgbClr val="000000"/>
                </a:solidFill>
                <a:effectLst/>
                <a:latin typeface="inter-bold"/>
              </a:rPr>
              <a:t>High-Bias, Low-Variance:</a:t>
            </a:r>
            <a:r>
              <a:rPr lang="en-US" b="0" i="0" dirty="0">
                <a:solidFill>
                  <a:srgbClr val="000000"/>
                </a:solidFill>
                <a:effectLst/>
                <a:latin typeface="inter-regular"/>
              </a:rPr>
              <a:t> </a:t>
            </a:r>
          </a:p>
          <a:p>
            <a:pPr algn="just"/>
            <a:r>
              <a:rPr lang="en-US" b="0" i="0" dirty="0">
                <a:solidFill>
                  <a:srgbClr val="000000"/>
                </a:solidFill>
                <a:effectLst/>
                <a:latin typeface="inter-regular"/>
              </a:rPr>
              <a:t>With High bias and low variance, predictions are consistent but inaccurate on average. This case occurs when a model does not learn well with the training dataset or uses few numbers of the parameter. It leads to </a:t>
            </a:r>
            <a:r>
              <a:rPr lang="en-US" b="1" i="0" dirty="0">
                <a:solidFill>
                  <a:srgbClr val="000000"/>
                </a:solidFill>
                <a:effectLst/>
                <a:latin typeface="inter-bold"/>
              </a:rPr>
              <a:t>underfitting</a:t>
            </a:r>
            <a:r>
              <a:rPr lang="en-US" b="0" i="0" dirty="0">
                <a:solidFill>
                  <a:srgbClr val="000000"/>
                </a:solidFill>
                <a:effectLst/>
                <a:latin typeface="inter-regular"/>
              </a:rPr>
              <a:t> problems in the model.</a:t>
            </a:r>
          </a:p>
          <a:p>
            <a:pPr algn="l"/>
            <a:r>
              <a:rPr lang="en-US" b="1" i="0" dirty="0">
                <a:solidFill>
                  <a:srgbClr val="000000"/>
                </a:solidFill>
                <a:effectLst/>
                <a:latin typeface="inter-bold"/>
              </a:rPr>
              <a:t>High-Bias, High-Variance:</a:t>
            </a:r>
            <a:br>
              <a:rPr lang="en-US" b="0" i="0" dirty="0">
                <a:solidFill>
                  <a:srgbClr val="000000"/>
                </a:solidFill>
                <a:effectLst/>
                <a:latin typeface="inter-regular"/>
              </a:rPr>
            </a:br>
            <a:r>
              <a:rPr lang="en-US" b="0" i="0" dirty="0">
                <a:solidFill>
                  <a:srgbClr val="000000"/>
                </a:solidFill>
                <a:effectLst/>
                <a:latin typeface="inter-regular"/>
              </a:rPr>
              <a:t>With high bias and high variance, predictions are inconsistent and also inaccurate on average.</a:t>
            </a:r>
          </a:p>
          <a:p>
            <a:endParaRPr lang="en-IN" dirty="0"/>
          </a:p>
        </p:txBody>
      </p:sp>
    </p:spTree>
    <p:extLst>
      <p:ext uri="{BB962C8B-B14F-4D97-AF65-F5344CB8AC3E}">
        <p14:creationId xmlns:p14="http://schemas.microsoft.com/office/powerpoint/2010/main" val="3979701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A6FE8-176B-AC63-B776-292BE1B61C0E}"/>
              </a:ext>
            </a:extLst>
          </p:cNvPr>
          <p:cNvSpPr>
            <a:spLocks noGrp="1"/>
          </p:cNvSpPr>
          <p:nvPr>
            <p:ph type="title"/>
          </p:nvPr>
        </p:nvSpPr>
        <p:spPr>
          <a:xfrm>
            <a:off x="838200" y="365126"/>
            <a:ext cx="10515600" cy="1211748"/>
          </a:xfrm>
        </p:spPr>
        <p:txBody>
          <a:bodyPr>
            <a:normAutofit fontScale="90000"/>
          </a:bodyPr>
          <a:lstStyle/>
          <a:p>
            <a:r>
              <a:rPr lang="en-US" b="1" i="0" dirty="0">
                <a:solidFill>
                  <a:srgbClr val="0070C0"/>
                </a:solidFill>
                <a:effectLst/>
                <a:latin typeface="source-serif-pro"/>
              </a:rPr>
              <a:t>What is Bias Variance Tradeoff?</a:t>
            </a:r>
            <a:br>
              <a:rPr lang="en-US" b="0" i="0" dirty="0">
                <a:solidFill>
                  <a:srgbClr val="0070C0"/>
                </a:solidFill>
                <a:effectLst/>
                <a:latin typeface="source-serif-pro"/>
              </a:rPr>
            </a:br>
            <a:endParaRPr lang="en-IN" dirty="0">
              <a:solidFill>
                <a:srgbClr val="0070C0"/>
              </a:solidFill>
            </a:endParaRPr>
          </a:p>
        </p:txBody>
      </p:sp>
      <p:sp>
        <p:nvSpPr>
          <p:cNvPr id="3" name="Content Placeholder 2">
            <a:extLst>
              <a:ext uri="{FF2B5EF4-FFF2-40B4-BE49-F238E27FC236}">
                <a16:creationId xmlns:a16="http://schemas.microsoft.com/office/drawing/2014/main" id="{B94BB768-4085-EB1A-BB03-4A9AA0175594}"/>
              </a:ext>
            </a:extLst>
          </p:cNvPr>
          <p:cNvSpPr>
            <a:spLocks noGrp="1"/>
          </p:cNvSpPr>
          <p:nvPr>
            <p:ph idx="1"/>
          </p:nvPr>
        </p:nvSpPr>
        <p:spPr/>
        <p:txBody>
          <a:bodyPr/>
          <a:lstStyle/>
          <a:p>
            <a:pPr marL="0" indent="0" algn="l">
              <a:buNone/>
            </a:pPr>
            <a:r>
              <a:rPr lang="en-US" b="0" i="0" dirty="0">
                <a:solidFill>
                  <a:srgbClr val="292929"/>
                </a:solidFill>
                <a:effectLst/>
                <a:latin typeface="source-serif-pro"/>
              </a:rPr>
              <a:t>If our model is too simple and has very few parameters then it may have high bias and low variance. On the other hand if our model has large number of parameters then it’s going to have high variance and low bias. So we need to find the right/good balance without overfitting and underfitting the data.</a:t>
            </a:r>
          </a:p>
          <a:p>
            <a:endParaRPr lang="en-IN" dirty="0"/>
          </a:p>
        </p:txBody>
      </p:sp>
    </p:spTree>
    <p:extLst>
      <p:ext uri="{BB962C8B-B14F-4D97-AF65-F5344CB8AC3E}">
        <p14:creationId xmlns:p14="http://schemas.microsoft.com/office/powerpoint/2010/main" val="207165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E89C-FB9E-1C60-E85C-AFA0DE270E3C}"/>
              </a:ext>
            </a:extLst>
          </p:cNvPr>
          <p:cNvSpPr>
            <a:spLocks noGrp="1"/>
          </p:cNvSpPr>
          <p:nvPr>
            <p:ph type="title"/>
          </p:nvPr>
        </p:nvSpPr>
        <p:spPr>
          <a:xfrm>
            <a:off x="838200" y="365126"/>
            <a:ext cx="10515600" cy="773210"/>
          </a:xfrm>
        </p:spPr>
        <p:txBody>
          <a:bodyPr/>
          <a:lstStyle/>
          <a:p>
            <a:r>
              <a:rPr lang="en-IN" dirty="0">
                <a:solidFill>
                  <a:schemeClr val="accent1"/>
                </a:solidFill>
              </a:rPr>
              <a:t>OVERFITTING AND UNDERFITTING</a:t>
            </a:r>
          </a:p>
        </p:txBody>
      </p:sp>
      <p:sp>
        <p:nvSpPr>
          <p:cNvPr id="3" name="Content Placeholder 2">
            <a:extLst>
              <a:ext uri="{FF2B5EF4-FFF2-40B4-BE49-F238E27FC236}">
                <a16:creationId xmlns:a16="http://schemas.microsoft.com/office/drawing/2014/main" id="{4B48BA8A-3F05-E92E-86B4-42E72AA3B694}"/>
              </a:ext>
            </a:extLst>
          </p:cNvPr>
          <p:cNvSpPr>
            <a:spLocks noGrp="1"/>
          </p:cNvSpPr>
          <p:nvPr>
            <p:ph idx="1"/>
          </p:nvPr>
        </p:nvSpPr>
        <p:spPr>
          <a:xfrm>
            <a:off x="838200" y="1362269"/>
            <a:ext cx="10515600" cy="4814694"/>
          </a:xfrm>
        </p:spPr>
        <p:txBody>
          <a:bodyPr/>
          <a:lstStyle/>
          <a:p>
            <a:pPr algn="just">
              <a:buFont typeface="Arial" panose="020B0604020202020204" pitchFamily="34" charset="0"/>
              <a:buChar char="•"/>
            </a:pPr>
            <a:r>
              <a:rPr lang="en-US" b="0" i="0" dirty="0">
                <a:solidFill>
                  <a:srgbClr val="000000"/>
                </a:solidFill>
                <a:effectLst/>
                <a:latin typeface="inter-regular"/>
              </a:rPr>
              <a:t>Overfitting &amp; underfitting are the two main errors/problems in the machine learning model, which cause poor performance in Machine Learning.</a:t>
            </a:r>
          </a:p>
          <a:p>
            <a:pPr algn="just">
              <a:buFont typeface="Arial" panose="020B0604020202020204" pitchFamily="34" charset="0"/>
              <a:buChar char="•"/>
            </a:pPr>
            <a:r>
              <a:rPr lang="en-US" b="0" i="0" dirty="0">
                <a:solidFill>
                  <a:srgbClr val="000000"/>
                </a:solidFill>
                <a:effectLst/>
                <a:latin typeface="inter-regular"/>
              </a:rPr>
              <a:t>Overfitting occurs when the model fits more data than required, and it tries to capture each and every datapoint fed to it. Hence it starts capturing noise and inaccurate data from the dataset, which degrades the performance of the model.</a:t>
            </a:r>
          </a:p>
          <a:p>
            <a:pPr algn="just">
              <a:buFont typeface="Arial" panose="020B0604020202020204" pitchFamily="34" charset="0"/>
              <a:buChar char="•"/>
            </a:pPr>
            <a:r>
              <a:rPr lang="en-US" b="0" i="0" dirty="0">
                <a:solidFill>
                  <a:srgbClr val="000000"/>
                </a:solidFill>
                <a:effectLst/>
                <a:latin typeface="inter-regular"/>
              </a:rPr>
              <a:t>An overfitted model doesn't perform accurately with the test/unseen dataset and can’t generalize well.</a:t>
            </a:r>
          </a:p>
          <a:p>
            <a:pPr algn="just">
              <a:buFont typeface="Arial" panose="020B0604020202020204" pitchFamily="34" charset="0"/>
              <a:buChar char="•"/>
            </a:pPr>
            <a:r>
              <a:rPr lang="en-US" b="0" i="0" dirty="0">
                <a:solidFill>
                  <a:srgbClr val="000000"/>
                </a:solidFill>
                <a:effectLst/>
                <a:latin typeface="inter-regular"/>
              </a:rPr>
              <a:t>An overfitted model is said to have low bias and high variance.</a:t>
            </a:r>
          </a:p>
          <a:p>
            <a:endParaRPr lang="en-IN" dirty="0"/>
          </a:p>
        </p:txBody>
      </p:sp>
    </p:spTree>
    <p:extLst>
      <p:ext uri="{BB962C8B-B14F-4D97-AF65-F5344CB8AC3E}">
        <p14:creationId xmlns:p14="http://schemas.microsoft.com/office/powerpoint/2010/main" val="2229286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5E1AF-D5FD-3E44-58F0-5722B1625DBF}"/>
              </a:ext>
            </a:extLst>
          </p:cNvPr>
          <p:cNvSpPr>
            <a:spLocks noGrp="1"/>
          </p:cNvSpPr>
          <p:nvPr>
            <p:ph type="title"/>
          </p:nvPr>
        </p:nvSpPr>
        <p:spPr>
          <a:xfrm>
            <a:off x="838200" y="365125"/>
            <a:ext cx="10515600" cy="969153"/>
          </a:xfrm>
        </p:spPr>
        <p:txBody>
          <a:bodyPr>
            <a:normAutofit/>
          </a:bodyPr>
          <a:lstStyle/>
          <a:p>
            <a:r>
              <a:rPr lang="en-IN" b="0" i="0" dirty="0">
                <a:solidFill>
                  <a:srgbClr val="610B38"/>
                </a:solidFill>
                <a:effectLst/>
                <a:latin typeface="erdana"/>
              </a:rPr>
              <a:t>How to detect Overfitting?</a:t>
            </a:r>
            <a:endParaRPr lang="en-IN" dirty="0"/>
          </a:p>
        </p:txBody>
      </p:sp>
      <p:sp>
        <p:nvSpPr>
          <p:cNvPr id="3" name="Content Placeholder 2">
            <a:extLst>
              <a:ext uri="{FF2B5EF4-FFF2-40B4-BE49-F238E27FC236}">
                <a16:creationId xmlns:a16="http://schemas.microsoft.com/office/drawing/2014/main" id="{AAB61B9D-CBC3-3E3B-E84F-88274DE80734}"/>
              </a:ext>
            </a:extLst>
          </p:cNvPr>
          <p:cNvSpPr>
            <a:spLocks noGrp="1"/>
          </p:cNvSpPr>
          <p:nvPr>
            <p:ph idx="1"/>
          </p:nvPr>
        </p:nvSpPr>
        <p:spPr>
          <a:xfrm>
            <a:off x="838200" y="1334278"/>
            <a:ext cx="10515600" cy="4842685"/>
          </a:xfrm>
        </p:spPr>
        <p:txBody>
          <a:bodyPr>
            <a:normAutofit lnSpcReduction="10000"/>
          </a:bodyPr>
          <a:lstStyle/>
          <a:p>
            <a:pPr algn="just"/>
            <a:r>
              <a:rPr lang="en-US" b="0" i="0" dirty="0">
                <a:solidFill>
                  <a:srgbClr val="333333"/>
                </a:solidFill>
                <a:effectLst/>
                <a:latin typeface="inter-regular"/>
              </a:rPr>
              <a:t>Overfitting in the model can only be detected once you test the data. To detect the issue, we can perform </a:t>
            </a:r>
            <a:r>
              <a:rPr lang="en-US" b="1" i="0" dirty="0">
                <a:solidFill>
                  <a:srgbClr val="333333"/>
                </a:solidFill>
                <a:effectLst/>
                <a:latin typeface="inter-bold"/>
              </a:rPr>
              <a:t>Train/test split.</a:t>
            </a:r>
            <a:endParaRPr lang="en-US" b="0" i="0" dirty="0">
              <a:solidFill>
                <a:srgbClr val="333333"/>
              </a:solidFill>
              <a:effectLst/>
              <a:latin typeface="inter-regular"/>
            </a:endParaRPr>
          </a:p>
          <a:p>
            <a:pPr algn="just"/>
            <a:r>
              <a:rPr lang="en-US" b="0" i="0" dirty="0">
                <a:solidFill>
                  <a:srgbClr val="333333"/>
                </a:solidFill>
                <a:effectLst/>
                <a:latin typeface="inter-regular"/>
              </a:rPr>
              <a:t>In the train-test split of the dataset, we can divide our dataset into random test and training datasets. We train the model with a training dataset which is about 80% of the total dataset. After training the model, we test it with the test dataset, which is 20% of the total dataset.</a:t>
            </a:r>
          </a:p>
          <a:p>
            <a:pPr algn="just"/>
            <a:r>
              <a:rPr lang="en-US" b="0" i="0" dirty="0">
                <a:solidFill>
                  <a:srgbClr val="333333"/>
                </a:solidFill>
                <a:effectLst/>
                <a:latin typeface="inter-regular"/>
              </a:rPr>
              <a:t>Now, if the model performs well with the training dataset but not with the test dataset, then it is likely to have an overfitting issue.</a:t>
            </a:r>
          </a:p>
          <a:p>
            <a:pPr algn="just"/>
            <a:r>
              <a:rPr lang="en-US" b="0" i="0" dirty="0">
                <a:solidFill>
                  <a:srgbClr val="333333"/>
                </a:solidFill>
                <a:effectLst/>
                <a:latin typeface="inter-regular"/>
              </a:rPr>
              <a:t>For example, if the model shows 85% accuracy with training data and 50% accuracy with the test dataset, it means the model is not performing well.</a:t>
            </a:r>
          </a:p>
          <a:p>
            <a:endParaRPr lang="en-IN" dirty="0"/>
          </a:p>
        </p:txBody>
      </p:sp>
    </p:spTree>
    <p:extLst>
      <p:ext uri="{BB962C8B-B14F-4D97-AF65-F5344CB8AC3E}">
        <p14:creationId xmlns:p14="http://schemas.microsoft.com/office/powerpoint/2010/main" val="237327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92AE9-AFCB-C2FC-3E20-855F53B817B0}"/>
              </a:ext>
            </a:extLst>
          </p:cNvPr>
          <p:cNvSpPr>
            <a:spLocks noGrp="1"/>
          </p:cNvSpPr>
          <p:nvPr>
            <p:ph type="title"/>
          </p:nvPr>
        </p:nvSpPr>
        <p:spPr>
          <a:xfrm>
            <a:off x="838200" y="365125"/>
            <a:ext cx="10515600" cy="1071789"/>
          </a:xfrm>
        </p:spPr>
        <p:txBody>
          <a:bodyPr>
            <a:normAutofit fontScale="90000"/>
          </a:bodyPr>
          <a:lstStyle/>
          <a:p>
            <a:r>
              <a:rPr lang="en-IN" b="0" i="0" dirty="0">
                <a:solidFill>
                  <a:srgbClr val="610B38"/>
                </a:solidFill>
                <a:effectLst/>
                <a:latin typeface="erdana"/>
              </a:rPr>
              <a:t>Underfitting</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8889A898-F87B-EFE3-0C4F-AA4EA12A8B06}"/>
              </a:ext>
            </a:extLst>
          </p:cNvPr>
          <p:cNvSpPr>
            <a:spLocks noGrp="1"/>
          </p:cNvSpPr>
          <p:nvPr>
            <p:ph idx="1"/>
          </p:nvPr>
        </p:nvSpPr>
        <p:spPr>
          <a:xfrm>
            <a:off x="838200" y="1436914"/>
            <a:ext cx="10515600" cy="4740049"/>
          </a:xfrm>
        </p:spPr>
        <p:txBody>
          <a:bodyPr/>
          <a:lstStyle/>
          <a:p>
            <a:pPr algn="just"/>
            <a:r>
              <a:rPr lang="en-US" b="0" i="0" dirty="0">
                <a:solidFill>
                  <a:srgbClr val="333333"/>
                </a:solidFill>
                <a:effectLst/>
                <a:latin typeface="inter-regular"/>
              </a:rPr>
              <a:t>Underfitting occurs when our machine learning model is not able to capture the underlying trend of the data. To avoid the overfitting in the model, the fed of training data can be stopped at an early stage, due to which the model may not learn enough from the training data. As a result, it may fail to find the best fit of the dominant trend in the data.</a:t>
            </a:r>
          </a:p>
          <a:p>
            <a:pPr algn="just"/>
            <a:r>
              <a:rPr lang="en-US" b="0" i="0" dirty="0">
                <a:solidFill>
                  <a:srgbClr val="333333"/>
                </a:solidFill>
                <a:effectLst/>
                <a:latin typeface="inter-regular"/>
              </a:rPr>
              <a:t>In the case of underfitting, the model is not able to learn enough from the training data, and hence it reduces the accuracy and produces unreliable predictions.</a:t>
            </a:r>
          </a:p>
          <a:p>
            <a:pPr algn="just"/>
            <a:r>
              <a:rPr lang="en-US" b="0" i="0" dirty="0">
                <a:solidFill>
                  <a:srgbClr val="333333"/>
                </a:solidFill>
                <a:effectLst/>
                <a:latin typeface="inter-regular"/>
              </a:rPr>
              <a:t>An underfitted model has high bias and low variance.</a:t>
            </a:r>
          </a:p>
          <a:p>
            <a:endParaRPr lang="en-IN" dirty="0"/>
          </a:p>
        </p:txBody>
      </p:sp>
    </p:spTree>
    <p:extLst>
      <p:ext uri="{BB962C8B-B14F-4D97-AF65-F5344CB8AC3E}">
        <p14:creationId xmlns:p14="http://schemas.microsoft.com/office/powerpoint/2010/main" val="3008590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933</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Calibri Light</vt:lpstr>
      <vt:lpstr>erdana</vt:lpstr>
      <vt:lpstr>inter-bold</vt:lpstr>
      <vt:lpstr>inter-regular</vt:lpstr>
      <vt:lpstr>source-serif-pro</vt:lpstr>
      <vt:lpstr>Office Theme</vt:lpstr>
      <vt:lpstr>Recap : Classification vs Regression</vt:lpstr>
      <vt:lpstr>PowerPoint Presentation</vt:lpstr>
      <vt:lpstr>Few terminologies frequently used in ML</vt:lpstr>
      <vt:lpstr>PowerPoint Presentation</vt:lpstr>
      <vt:lpstr>  Different Combinations of Bias-Variance There are four possible combinations of bias and variances </vt:lpstr>
      <vt:lpstr>What is Bias Variance Tradeoff? </vt:lpstr>
      <vt:lpstr>OVERFITTING AND UNDERFITTING</vt:lpstr>
      <vt:lpstr>How to detect Overfitting?</vt:lpstr>
      <vt:lpstr>Underfitting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vs Regression</dc:title>
  <dc:creator>Jheelam Mondal</dc:creator>
  <cp:lastModifiedBy>Jheelam Mondal</cp:lastModifiedBy>
  <cp:revision>9</cp:revision>
  <dcterms:created xsi:type="dcterms:W3CDTF">2023-02-09T06:21:22Z</dcterms:created>
  <dcterms:modified xsi:type="dcterms:W3CDTF">2023-02-09T09:30:03Z</dcterms:modified>
</cp:coreProperties>
</file>