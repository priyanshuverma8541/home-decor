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70" r:id="rId4"/>
    <p:sldId id="271" r:id="rId5"/>
    <p:sldId id="257" r:id="rId6"/>
    <p:sldId id="272" r:id="rId7"/>
    <p:sldId id="258" r:id="rId8"/>
    <p:sldId id="259" r:id="rId9"/>
    <p:sldId id="260" r:id="rId10"/>
    <p:sldId id="273" r:id="rId11"/>
    <p:sldId id="262" r:id="rId12"/>
    <p:sldId id="263" r:id="rId13"/>
    <p:sldId id="274" r:id="rId14"/>
    <p:sldId id="264" r:id="rId15"/>
    <p:sldId id="275" r:id="rId16"/>
    <p:sldId id="267" r:id="rId17"/>
    <p:sldId id="279" r:id="rId18"/>
    <p:sldId id="283" r:id="rId19"/>
    <p:sldId id="284" r:id="rId20"/>
    <p:sldId id="276" r:id="rId21"/>
    <p:sldId id="285" r:id="rId22"/>
    <p:sldId id="286" r:id="rId23"/>
    <p:sldId id="280" r:id="rId24"/>
    <p:sldId id="287" r:id="rId25"/>
    <p:sldId id="281" r:id="rId26"/>
    <p:sldId id="288"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9" autoAdjust="0"/>
    <p:restoredTop sz="94660"/>
  </p:normalViewPr>
  <p:slideViewPr>
    <p:cSldViewPr snapToGrid="0">
      <p:cViewPr varScale="1">
        <p:scale>
          <a:sx n="82" d="100"/>
          <a:sy n="82" d="100"/>
        </p:scale>
        <p:origin x="7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A3C86C5-9AF4-4A10-83B9-BC5AF972845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2066549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3C86C5-9AF4-4A10-83B9-BC5AF972845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335985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3C86C5-9AF4-4A10-83B9-BC5AF972845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3310091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A3C86C5-9AF4-4A10-83B9-BC5AF9728458}" type="datetimeFigureOut">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4174761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A3C86C5-9AF4-4A10-83B9-BC5AF9728458}" type="datetimeFigureOut">
              <a:rPr lang="en-IN" smtClean="0"/>
              <a:t>17-10-2023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2841959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A3C86C5-9AF4-4A10-83B9-BC5AF9728458}" type="datetimeFigureOut">
              <a:rPr lang="en-IN" smtClean="0"/>
              <a:t>17-10-2023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850195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3C86C5-9AF4-4A10-83B9-BC5AF9728458}" type="datetimeFigureOut">
              <a:rPr lang="en-IN" smtClean="0"/>
              <a:t>17-10-2023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1386025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3C86C5-9AF4-4A10-83B9-BC5AF9728458}" type="datetimeFigureOut">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1379071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3C86C5-9AF4-4A10-83B9-BC5AF9728458}" type="datetimeFigureOut">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4124881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3C86C5-9AF4-4A10-83B9-BC5AF972845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2125253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3C86C5-9AF4-4A10-83B9-BC5AF9728458}" type="datetimeFigureOut">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EB6092-11AD-461E-9632-A8923BD49BCE}" type="slidenum">
              <a:rPr lang="en-IN" smtClean="0"/>
              <a:t>‹#›</a:t>
            </a:fld>
            <a:endParaRPr lang="en-IN"/>
          </a:p>
        </p:txBody>
      </p:sp>
    </p:spTree>
    <p:extLst>
      <p:ext uri="{BB962C8B-B14F-4D97-AF65-F5344CB8AC3E}">
        <p14:creationId xmlns:p14="http://schemas.microsoft.com/office/powerpoint/2010/main" val="2647887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3C86C5-9AF4-4A10-83B9-BC5AF9728458}" type="datetimeFigureOut">
              <a:rPr lang="en-IN" smtClean="0"/>
              <a:t>17-10-2023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EB6092-11AD-461E-9632-A8923BD49BCE}" type="slidenum">
              <a:rPr lang="en-IN" smtClean="0"/>
              <a:t>‹#›</a:t>
            </a:fld>
            <a:endParaRPr lang="en-IN"/>
          </a:p>
        </p:txBody>
      </p:sp>
    </p:spTree>
    <p:extLst>
      <p:ext uri="{BB962C8B-B14F-4D97-AF65-F5344CB8AC3E}">
        <p14:creationId xmlns:p14="http://schemas.microsoft.com/office/powerpoint/2010/main" val="2101589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3757"/>
            <a:ext cx="9144000" cy="985652"/>
          </a:xfrm>
        </p:spPr>
        <p:txBody>
          <a:bodyPr>
            <a:normAutofit/>
          </a:bodyPr>
          <a:lstStyle/>
          <a:p>
            <a:pPr algn="l"/>
            <a:r>
              <a:rPr lang="en-IN" b="1" dirty="0">
                <a:solidFill>
                  <a:schemeClr val="accent1">
                    <a:lumMod val="75000"/>
                  </a:schemeClr>
                </a:solidFill>
              </a:rPr>
              <a:t>What is Machine Learning?</a:t>
            </a:r>
          </a:p>
        </p:txBody>
      </p:sp>
      <p:sp>
        <p:nvSpPr>
          <p:cNvPr id="6" name="Rectangle 5"/>
          <p:cNvSpPr/>
          <p:nvPr/>
        </p:nvSpPr>
        <p:spPr>
          <a:xfrm>
            <a:off x="1425039" y="2196935"/>
            <a:ext cx="9547761" cy="4401205"/>
          </a:xfrm>
          <a:prstGeom prst="rect">
            <a:avLst/>
          </a:prstGeom>
        </p:spPr>
        <p:txBody>
          <a:bodyPr wrap="square">
            <a:spAutoFit/>
          </a:bodyPr>
          <a:lstStyle/>
          <a:p>
            <a:r>
              <a:rPr lang="en-IN" sz="4000" dirty="0"/>
              <a:t>Machine Learning is a set of techniques to make computers better at doing things that humans can do better than machines.</a:t>
            </a:r>
          </a:p>
          <a:p>
            <a:endParaRPr lang="en-IN" sz="4000" dirty="0"/>
          </a:p>
          <a:p>
            <a:r>
              <a:rPr lang="en-IN" sz="4000" dirty="0"/>
              <a:t>Machine learning involves making machines learn things like humans do.</a:t>
            </a:r>
          </a:p>
          <a:p>
            <a:endParaRPr lang="en-IN" sz="4000" dirty="0"/>
          </a:p>
        </p:txBody>
      </p:sp>
    </p:spTree>
    <p:extLst>
      <p:ext uri="{BB962C8B-B14F-4D97-AF65-F5344CB8AC3E}">
        <p14:creationId xmlns:p14="http://schemas.microsoft.com/office/powerpoint/2010/main" val="3955008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8901"/>
          </a:xfrm>
        </p:spPr>
        <p:txBody>
          <a:bodyPr>
            <a:noAutofit/>
          </a:bodyPr>
          <a:lstStyle/>
          <a:p>
            <a:pPr marL="457200" indent="-457200">
              <a:buFont typeface="Arial" panose="020B0604020202020204" pitchFamily="34" charset="0"/>
              <a:buChar char="•"/>
            </a:pPr>
            <a:r>
              <a:rPr lang="en-US" sz="4000" dirty="0">
                <a:solidFill>
                  <a:schemeClr val="accent1">
                    <a:lumMod val="75000"/>
                  </a:schemeClr>
                </a:solidFill>
                <a:latin typeface="+mn-lt"/>
                <a:ea typeface="+mn-ea"/>
                <a:cs typeface="+mn-cs"/>
              </a:rPr>
              <a:t>The term machine learning was coined in 1959 by Arthur Samuel</a:t>
            </a:r>
            <a:endParaRPr lang="en-IN" sz="4000" dirty="0">
              <a:solidFill>
                <a:schemeClr val="accent1">
                  <a:lumMod val="75000"/>
                </a:schemeClr>
              </a:solidFill>
              <a:latin typeface="+mn-lt"/>
              <a:ea typeface="+mn-ea"/>
              <a:cs typeface="+mn-cs"/>
            </a:endParaRPr>
          </a:p>
        </p:txBody>
      </p:sp>
      <p:sp>
        <p:nvSpPr>
          <p:cNvPr id="3" name="Content Placeholder 2"/>
          <p:cNvSpPr>
            <a:spLocks noGrp="1"/>
          </p:cNvSpPr>
          <p:nvPr>
            <p:ph idx="1"/>
          </p:nvPr>
        </p:nvSpPr>
        <p:spPr>
          <a:xfrm>
            <a:off x="838200" y="1484026"/>
            <a:ext cx="10515600" cy="4692937"/>
          </a:xfrm>
        </p:spPr>
        <p:txBody>
          <a:bodyPr>
            <a:normAutofit fontScale="77500" lnSpcReduction="20000"/>
          </a:bodyPr>
          <a:lstStyle/>
          <a:p>
            <a:r>
              <a:rPr lang="en-US" sz="4300" dirty="0"/>
              <a:t>It is a branch of artificial intelligence based on the idea that systems can learn from data, identify patterns and make decisions with minimal human intervention.</a:t>
            </a:r>
          </a:p>
          <a:p>
            <a:r>
              <a:rPr lang="en-US" sz="4300" dirty="0"/>
              <a:t>Artificial intelligence is a field of computer science that makes a computer system that can mimic human intelligence. It is comprised of two words “Artificial” and “intelligence”, which means “a human-made thinking power.”</a:t>
            </a:r>
          </a:p>
          <a:p>
            <a:r>
              <a:rPr lang="en-US" sz="4300" dirty="0"/>
              <a:t>On the other hand, Machine learning enables a computer system to make predictions or take some decisions using historical data without being explicitly programmed. </a:t>
            </a:r>
          </a:p>
          <a:p>
            <a:pPr marL="0" indent="0">
              <a:buNone/>
            </a:pPr>
            <a:endParaRPr lang="en-IN" sz="4000" dirty="0"/>
          </a:p>
        </p:txBody>
      </p:sp>
    </p:spTree>
    <p:extLst>
      <p:ext uri="{BB962C8B-B14F-4D97-AF65-F5344CB8AC3E}">
        <p14:creationId xmlns:p14="http://schemas.microsoft.com/office/powerpoint/2010/main" val="294365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05BA6-0171-1241-B6E6-DF0D13C34F7A}"/>
              </a:ext>
            </a:extLst>
          </p:cNvPr>
          <p:cNvSpPr>
            <a:spLocks noGrp="1"/>
          </p:cNvSpPr>
          <p:nvPr>
            <p:ph type="title"/>
          </p:nvPr>
        </p:nvSpPr>
        <p:spPr/>
        <p:txBody>
          <a:bodyPr>
            <a:normAutofit/>
          </a:bodyPr>
          <a:lstStyle/>
          <a:p>
            <a:r>
              <a:rPr lang="en-IN" sz="4000" b="1" dirty="0">
                <a:solidFill>
                  <a:schemeClr val="accent1">
                    <a:lumMod val="75000"/>
                  </a:schemeClr>
                </a:solidFill>
              </a:rPr>
              <a:t>How Machine Learning works?</a:t>
            </a:r>
          </a:p>
        </p:txBody>
      </p:sp>
      <p:sp>
        <p:nvSpPr>
          <p:cNvPr id="3" name="Content Placeholder 2">
            <a:extLst>
              <a:ext uri="{FF2B5EF4-FFF2-40B4-BE49-F238E27FC236}">
                <a16:creationId xmlns:a16="http://schemas.microsoft.com/office/drawing/2014/main" id="{18F4B11F-580F-B5CD-0693-7438FC1B4539}"/>
              </a:ext>
            </a:extLst>
          </p:cNvPr>
          <p:cNvSpPr>
            <a:spLocks noGrp="1"/>
          </p:cNvSpPr>
          <p:nvPr>
            <p:ph idx="1"/>
          </p:nvPr>
        </p:nvSpPr>
        <p:spPr>
          <a:xfrm>
            <a:off x="838200" y="1394085"/>
            <a:ext cx="10515600" cy="5098790"/>
          </a:xfrm>
        </p:spPr>
        <p:txBody>
          <a:bodyPr>
            <a:noAutofit/>
          </a:bodyPr>
          <a:lstStyle/>
          <a:p>
            <a:r>
              <a:rPr lang="en-IN" sz="4000" dirty="0"/>
              <a:t>The Machine Learning process starts with inputting training data into the selected algorithm. Training data being known or unknown data to develop the final Machine Learning algorithm.</a:t>
            </a:r>
          </a:p>
          <a:p>
            <a:r>
              <a:rPr lang="en-IN" sz="4000" dirty="0"/>
              <a:t>To test whether this algorithm works correctly , new input data is fed into the Machine Learning algorithm. The predictions and results are then checked.</a:t>
            </a:r>
          </a:p>
        </p:txBody>
      </p:sp>
    </p:spTree>
    <p:extLst>
      <p:ext uri="{BB962C8B-B14F-4D97-AF65-F5344CB8AC3E}">
        <p14:creationId xmlns:p14="http://schemas.microsoft.com/office/powerpoint/2010/main" val="2658262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9B70-7110-546A-7A4F-11DA09DBE5AA}"/>
              </a:ext>
            </a:extLst>
          </p:cNvPr>
          <p:cNvSpPr>
            <a:spLocks noGrp="1"/>
          </p:cNvSpPr>
          <p:nvPr>
            <p:ph type="title"/>
          </p:nvPr>
        </p:nvSpPr>
        <p:spPr/>
        <p:txBody>
          <a:bodyPr/>
          <a:lstStyle/>
          <a:p>
            <a:r>
              <a:rPr lang="en-IN" dirty="0">
                <a:solidFill>
                  <a:schemeClr val="accent1">
                    <a:lumMod val="75000"/>
                  </a:schemeClr>
                </a:solidFill>
                <a:latin typeface="+mn-lt"/>
              </a:rPr>
              <a:t>How machine learning works </a:t>
            </a:r>
            <a:r>
              <a:rPr lang="en-IN" dirty="0" err="1">
                <a:solidFill>
                  <a:schemeClr val="accent1">
                    <a:lumMod val="75000"/>
                  </a:schemeClr>
                </a:solidFill>
                <a:latin typeface="+mn-lt"/>
              </a:rPr>
              <a:t>contd</a:t>
            </a:r>
            <a:r>
              <a:rPr lang="en-IN" dirty="0">
                <a:solidFill>
                  <a:schemeClr val="accent1">
                    <a:lumMod val="75000"/>
                  </a:schemeClr>
                </a:solidFill>
                <a:latin typeface="+mn-lt"/>
              </a:rPr>
              <a:t>…</a:t>
            </a:r>
          </a:p>
        </p:txBody>
      </p:sp>
      <p:sp>
        <p:nvSpPr>
          <p:cNvPr id="3" name="Content Placeholder 2">
            <a:extLst>
              <a:ext uri="{FF2B5EF4-FFF2-40B4-BE49-F238E27FC236}">
                <a16:creationId xmlns:a16="http://schemas.microsoft.com/office/drawing/2014/main" id="{F1640511-8C92-CB63-B082-CB1C6DF688F4}"/>
              </a:ext>
            </a:extLst>
          </p:cNvPr>
          <p:cNvSpPr>
            <a:spLocks noGrp="1"/>
          </p:cNvSpPr>
          <p:nvPr>
            <p:ph idx="1"/>
          </p:nvPr>
        </p:nvSpPr>
        <p:spPr/>
        <p:txBody>
          <a:bodyPr>
            <a:normAutofit/>
          </a:bodyPr>
          <a:lstStyle/>
          <a:p>
            <a:r>
              <a:rPr lang="en-IN" sz="4000" dirty="0"/>
              <a:t>If the prediction is not as expected, the algorithm is re-trained multiple number of times until the desired output is found.</a:t>
            </a:r>
          </a:p>
          <a:p>
            <a:r>
              <a:rPr lang="en-IN" sz="4000" dirty="0"/>
              <a:t>This enables the Machine Learning algorithm to continually learn on its own and produce the most optimal answer that will gradually increase in accuracy over time.</a:t>
            </a:r>
          </a:p>
        </p:txBody>
      </p:sp>
    </p:spTree>
    <p:extLst>
      <p:ext uri="{BB962C8B-B14F-4D97-AF65-F5344CB8AC3E}">
        <p14:creationId xmlns:p14="http://schemas.microsoft.com/office/powerpoint/2010/main" val="3982111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Examples -</a:t>
            </a:r>
          </a:p>
        </p:txBody>
      </p:sp>
      <p:pic>
        <p:nvPicPr>
          <p:cNvPr id="4" name="Content Placeholder 3"/>
          <p:cNvPicPr>
            <a:picLocks noGrp="1" noChangeAspect="1"/>
          </p:cNvPicPr>
          <p:nvPr>
            <p:ph idx="1"/>
          </p:nvPr>
        </p:nvPicPr>
        <p:blipFill>
          <a:blip r:embed="rId2"/>
          <a:stretch>
            <a:fillRect/>
          </a:stretch>
        </p:blipFill>
        <p:spPr>
          <a:xfrm>
            <a:off x="838200" y="1971817"/>
            <a:ext cx="10515600" cy="4058953"/>
          </a:xfrm>
          <a:prstGeom prst="rect">
            <a:avLst/>
          </a:prstGeom>
        </p:spPr>
      </p:pic>
    </p:spTree>
    <p:extLst>
      <p:ext uri="{BB962C8B-B14F-4D97-AF65-F5344CB8AC3E}">
        <p14:creationId xmlns:p14="http://schemas.microsoft.com/office/powerpoint/2010/main" val="3592278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8897183-CF67-D25B-D05C-268C0DB2E71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6430" y="704538"/>
            <a:ext cx="10366350" cy="5532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933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Examples contd..</a:t>
            </a:r>
          </a:p>
        </p:txBody>
      </p:sp>
      <p:pic>
        <p:nvPicPr>
          <p:cNvPr id="4" name="Content Placeholder 3"/>
          <p:cNvPicPr>
            <a:picLocks noGrp="1" noChangeAspect="1"/>
          </p:cNvPicPr>
          <p:nvPr>
            <p:ph idx="1"/>
          </p:nvPr>
        </p:nvPicPr>
        <p:blipFill>
          <a:blip r:embed="rId2"/>
          <a:stretch>
            <a:fillRect/>
          </a:stretch>
        </p:blipFill>
        <p:spPr>
          <a:xfrm>
            <a:off x="838200" y="1825625"/>
            <a:ext cx="10515600" cy="4351338"/>
          </a:xfrm>
          <a:prstGeom prst="rect">
            <a:avLst/>
          </a:prstGeom>
        </p:spPr>
      </p:pic>
    </p:spTree>
    <p:extLst>
      <p:ext uri="{BB962C8B-B14F-4D97-AF65-F5344CB8AC3E}">
        <p14:creationId xmlns:p14="http://schemas.microsoft.com/office/powerpoint/2010/main" val="805113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Examples contd..</a:t>
            </a:r>
          </a:p>
        </p:txBody>
      </p:sp>
      <p:pic>
        <p:nvPicPr>
          <p:cNvPr id="5" name="Content Placeholder 4"/>
          <p:cNvPicPr>
            <a:picLocks noGrp="1" noChangeAspect="1"/>
          </p:cNvPicPr>
          <p:nvPr>
            <p:ph idx="1"/>
          </p:nvPr>
        </p:nvPicPr>
        <p:blipFill>
          <a:blip r:embed="rId2"/>
          <a:stretch>
            <a:fillRect/>
          </a:stretch>
        </p:blipFill>
        <p:spPr>
          <a:xfrm>
            <a:off x="838201" y="1876301"/>
            <a:ext cx="10943796" cy="4300662"/>
          </a:xfrm>
          <a:prstGeom prst="rect">
            <a:avLst/>
          </a:prstGeom>
        </p:spPr>
      </p:pic>
    </p:spTree>
    <p:extLst>
      <p:ext uri="{BB962C8B-B14F-4D97-AF65-F5344CB8AC3E}">
        <p14:creationId xmlns:p14="http://schemas.microsoft.com/office/powerpoint/2010/main" val="3939558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Examples contd..</a:t>
            </a:r>
          </a:p>
        </p:txBody>
      </p:sp>
      <p:pic>
        <p:nvPicPr>
          <p:cNvPr id="4" name="Content Placeholder 3"/>
          <p:cNvPicPr>
            <a:picLocks noGrp="1" noChangeAspect="1"/>
          </p:cNvPicPr>
          <p:nvPr>
            <p:ph idx="1"/>
          </p:nvPr>
        </p:nvPicPr>
        <p:blipFill>
          <a:blip r:embed="rId2"/>
          <a:stretch>
            <a:fillRect/>
          </a:stretch>
        </p:blipFill>
        <p:spPr>
          <a:xfrm>
            <a:off x="838200" y="1825625"/>
            <a:ext cx="10515600" cy="4351338"/>
          </a:xfrm>
          <a:prstGeom prst="rect">
            <a:avLst/>
          </a:prstGeom>
        </p:spPr>
      </p:pic>
    </p:spTree>
    <p:extLst>
      <p:ext uri="{BB962C8B-B14F-4D97-AF65-F5344CB8AC3E}">
        <p14:creationId xmlns:p14="http://schemas.microsoft.com/office/powerpoint/2010/main" val="2704895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CD1D160-1113-8442-6E37-D6487639CC9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19468" y="578449"/>
            <a:ext cx="7809723" cy="5701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2833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rPr>
              <a:t>Types of Machine Learning</a:t>
            </a:r>
          </a:p>
        </p:txBody>
      </p:sp>
      <p:sp>
        <p:nvSpPr>
          <p:cNvPr id="3" name="Content Placeholder 2"/>
          <p:cNvSpPr>
            <a:spLocks noGrp="1"/>
          </p:cNvSpPr>
          <p:nvPr>
            <p:ph idx="1"/>
          </p:nvPr>
        </p:nvSpPr>
        <p:spPr/>
        <p:txBody>
          <a:bodyPr>
            <a:normAutofit lnSpcReduction="10000"/>
          </a:bodyPr>
          <a:lstStyle/>
          <a:p>
            <a:pPr marL="0" indent="0">
              <a:buNone/>
            </a:pPr>
            <a:r>
              <a:rPr lang="en-US" sz="4000" dirty="0"/>
              <a:t>Machine learning consists of applying mathematical and statistical approaches to get machines to learn from data.</a:t>
            </a:r>
          </a:p>
          <a:p>
            <a:pPr marL="0" indent="0">
              <a:buNone/>
            </a:pPr>
            <a:endParaRPr lang="en-IN" sz="4000" dirty="0"/>
          </a:p>
          <a:p>
            <a:r>
              <a:rPr lang="en-US" sz="4000" dirty="0"/>
              <a:t>Supervised learning</a:t>
            </a:r>
          </a:p>
          <a:p>
            <a:r>
              <a:rPr lang="en-US" sz="4000" dirty="0"/>
              <a:t>Unsupervised learning</a:t>
            </a:r>
          </a:p>
          <a:p>
            <a:r>
              <a:rPr lang="en-US" sz="4000" dirty="0"/>
              <a:t>Reinforcement learning</a:t>
            </a:r>
          </a:p>
          <a:p>
            <a:pPr marL="0" indent="0">
              <a:buNone/>
            </a:pPr>
            <a:endParaRPr lang="en-IN" dirty="0"/>
          </a:p>
        </p:txBody>
      </p:sp>
    </p:spTree>
    <p:extLst>
      <p:ext uri="{BB962C8B-B14F-4D97-AF65-F5344CB8AC3E}">
        <p14:creationId xmlns:p14="http://schemas.microsoft.com/office/powerpoint/2010/main" val="1868992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2540"/>
          </a:xfrm>
        </p:spPr>
        <p:txBody>
          <a:bodyPr/>
          <a:lstStyle/>
          <a:p>
            <a:r>
              <a:rPr lang="en-IN" b="1" dirty="0">
                <a:solidFill>
                  <a:schemeClr val="accent1">
                    <a:lumMod val="75000"/>
                  </a:schemeClr>
                </a:solidFill>
              </a:rPr>
              <a:t>Supervised Learning</a:t>
            </a:r>
          </a:p>
        </p:txBody>
      </p:sp>
      <p:sp>
        <p:nvSpPr>
          <p:cNvPr id="3" name="Content Placeholder 2"/>
          <p:cNvSpPr>
            <a:spLocks noGrp="1"/>
          </p:cNvSpPr>
          <p:nvPr>
            <p:ph idx="1"/>
          </p:nvPr>
        </p:nvSpPr>
        <p:spPr>
          <a:xfrm>
            <a:off x="838200" y="1017037"/>
            <a:ext cx="10515600" cy="5645020"/>
          </a:xfrm>
        </p:spPr>
        <p:txBody>
          <a:bodyPr>
            <a:normAutofit/>
          </a:bodyPr>
          <a:lstStyle/>
          <a:p>
            <a:pPr marL="0" indent="0">
              <a:buNone/>
            </a:pPr>
            <a:r>
              <a:rPr lang="en-IN" dirty="0"/>
              <a:t>Supervised Learning describes a class of problem that involves using a model to learn a mapping between input examples and the target variable. It is the learning in which a supervisor teaches or trains a machine using labelled data with correct answers. Models are fit on training data comprised of inputs and outputs and used to make predictions on test sets where only the inputs are provided and the outputs from the model are compared to the target variables.</a:t>
            </a:r>
          </a:p>
          <a:p>
            <a:pPr marL="0" indent="0">
              <a:buNone/>
            </a:pPr>
            <a:endParaRPr lang="en-IN" dirty="0"/>
          </a:p>
        </p:txBody>
      </p:sp>
      <p:pic>
        <p:nvPicPr>
          <p:cNvPr id="5" name="Picture 4">
            <a:extLst>
              <a:ext uri="{FF2B5EF4-FFF2-40B4-BE49-F238E27FC236}">
                <a16:creationId xmlns:a16="http://schemas.microsoft.com/office/drawing/2014/main" id="{5244F891-AD9E-1EEB-469E-8364F1963068}"/>
              </a:ext>
            </a:extLst>
          </p:cNvPr>
          <p:cNvPicPr>
            <a:picLocks noChangeAspect="1"/>
          </p:cNvPicPr>
          <p:nvPr/>
        </p:nvPicPr>
        <p:blipFill>
          <a:blip r:embed="rId2"/>
          <a:stretch>
            <a:fillRect/>
          </a:stretch>
        </p:blipFill>
        <p:spPr>
          <a:xfrm>
            <a:off x="3122645" y="3750965"/>
            <a:ext cx="4625741" cy="2911092"/>
          </a:xfrm>
          <a:prstGeom prst="rect">
            <a:avLst/>
          </a:prstGeom>
        </p:spPr>
      </p:pic>
    </p:spTree>
    <p:extLst>
      <p:ext uri="{BB962C8B-B14F-4D97-AF65-F5344CB8AC3E}">
        <p14:creationId xmlns:p14="http://schemas.microsoft.com/office/powerpoint/2010/main" val="2738845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D5E24-35CB-1F2B-2350-27FAF12C64A1}"/>
              </a:ext>
            </a:extLst>
          </p:cNvPr>
          <p:cNvSpPr>
            <a:spLocks noGrp="1"/>
          </p:cNvSpPr>
          <p:nvPr>
            <p:ph type="title"/>
          </p:nvPr>
        </p:nvSpPr>
        <p:spPr/>
        <p:txBody>
          <a:bodyPr>
            <a:normAutofit/>
          </a:bodyPr>
          <a:lstStyle/>
          <a:p>
            <a:r>
              <a:rPr lang="en-IN" sz="4000" b="1" dirty="0">
                <a:solidFill>
                  <a:schemeClr val="accent1">
                    <a:lumMod val="75000"/>
                  </a:schemeClr>
                </a:solidFill>
              </a:rPr>
              <a:t>Types of Supervised Learning problems</a:t>
            </a:r>
          </a:p>
        </p:txBody>
      </p:sp>
      <p:sp>
        <p:nvSpPr>
          <p:cNvPr id="3" name="Content Placeholder 2">
            <a:extLst>
              <a:ext uri="{FF2B5EF4-FFF2-40B4-BE49-F238E27FC236}">
                <a16:creationId xmlns:a16="http://schemas.microsoft.com/office/drawing/2014/main" id="{B001B55D-568B-868F-A8D9-69FF889C8134}"/>
              </a:ext>
            </a:extLst>
          </p:cNvPr>
          <p:cNvSpPr>
            <a:spLocks noGrp="1"/>
          </p:cNvSpPr>
          <p:nvPr>
            <p:ph idx="1"/>
          </p:nvPr>
        </p:nvSpPr>
        <p:spPr/>
        <p:txBody>
          <a:bodyPr/>
          <a:lstStyle/>
          <a:p>
            <a:pPr marL="0" indent="0">
              <a:buNone/>
            </a:pPr>
            <a:r>
              <a:rPr lang="en-US" dirty="0"/>
              <a:t>Supervised learning problems can be further grouped into </a:t>
            </a:r>
            <a:r>
              <a:rPr lang="en-US" b="1" dirty="0"/>
              <a:t>Regression</a:t>
            </a:r>
            <a:r>
              <a:rPr lang="en-US" dirty="0"/>
              <a:t> and </a:t>
            </a:r>
            <a:r>
              <a:rPr lang="en-US" b="1" dirty="0"/>
              <a:t>Classification</a:t>
            </a:r>
            <a:r>
              <a:rPr lang="en-US" dirty="0"/>
              <a:t> problems. Both problems have as goal the construction of a model that can predict the value of the dependent attribute from the independent variables. </a:t>
            </a:r>
          </a:p>
          <a:p>
            <a:pPr marL="0" indent="0">
              <a:buNone/>
            </a:pPr>
            <a:r>
              <a:rPr lang="en-US" dirty="0"/>
              <a:t>The difference between the two tasks is the fact that the dependent  attribute is numerical for regression and categorical for classification.</a:t>
            </a:r>
            <a:endParaRPr lang="en-IN" dirty="0"/>
          </a:p>
          <a:p>
            <a:endParaRPr lang="en-IN" dirty="0"/>
          </a:p>
        </p:txBody>
      </p:sp>
    </p:spTree>
    <p:extLst>
      <p:ext uri="{BB962C8B-B14F-4D97-AF65-F5344CB8AC3E}">
        <p14:creationId xmlns:p14="http://schemas.microsoft.com/office/powerpoint/2010/main" val="1715618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5"/>
                </a:solidFill>
              </a:rPr>
              <a:t>Classification &amp; Regression</a:t>
            </a:r>
          </a:p>
        </p:txBody>
      </p:sp>
      <p:sp>
        <p:nvSpPr>
          <p:cNvPr id="3" name="Content Placeholder 2"/>
          <p:cNvSpPr>
            <a:spLocks noGrp="1"/>
          </p:cNvSpPr>
          <p:nvPr>
            <p:ph idx="1"/>
          </p:nvPr>
        </p:nvSpPr>
        <p:spPr/>
        <p:txBody>
          <a:bodyPr>
            <a:normAutofit fontScale="92500"/>
          </a:bodyPr>
          <a:lstStyle/>
          <a:p>
            <a:pPr marL="0" indent="0">
              <a:buNone/>
            </a:pPr>
            <a:r>
              <a:rPr lang="en-US" dirty="0"/>
              <a:t>It is the process of finding or discovering a model or function which helps in separating the data into </a:t>
            </a:r>
            <a:r>
              <a:rPr lang="en-US" b="1" dirty="0"/>
              <a:t>multiple categorical classes i.e. discrete values</a:t>
            </a:r>
            <a:r>
              <a:rPr lang="en-US" dirty="0"/>
              <a:t>. In classification, data is categorized under different labels according to some parameters given in input and then the labels are predicted for the data. Classification algorithms are used to </a:t>
            </a:r>
            <a:r>
              <a:rPr lang="en-US" b="1" dirty="0"/>
              <a:t>predict/Classify the discrete values</a:t>
            </a:r>
            <a:r>
              <a:rPr lang="en-US" dirty="0"/>
              <a:t> such as Male or Female, True or False, Spam or Not Spam, etc.</a:t>
            </a:r>
          </a:p>
          <a:p>
            <a:pPr marL="0" indent="0">
              <a:buNone/>
            </a:pPr>
            <a:r>
              <a:rPr lang="en-US" dirty="0"/>
              <a:t>On the other hand, regression will not give a class as output. The output is a </a:t>
            </a:r>
            <a:r>
              <a:rPr lang="en-US" b="1" dirty="0"/>
              <a:t>specific value also called a forecast or prediction</a:t>
            </a:r>
            <a:r>
              <a:rPr lang="en-US" dirty="0"/>
              <a:t>. Regression algorithms are used to </a:t>
            </a:r>
            <a:r>
              <a:rPr lang="en-US" b="1" dirty="0"/>
              <a:t>predict the continuous</a:t>
            </a:r>
            <a:r>
              <a:rPr lang="en-US" dirty="0"/>
              <a:t> values such as price, salary, age, etc. Regression analysis is a statistical process for estimating the relationships among independent and dependent variables.</a:t>
            </a:r>
          </a:p>
          <a:p>
            <a:pPr marL="0" indent="0">
              <a:buNone/>
            </a:pPr>
            <a:endParaRPr lang="en-IN" dirty="0"/>
          </a:p>
        </p:txBody>
      </p:sp>
    </p:spTree>
    <p:extLst>
      <p:ext uri="{BB962C8B-B14F-4D97-AF65-F5344CB8AC3E}">
        <p14:creationId xmlns:p14="http://schemas.microsoft.com/office/powerpoint/2010/main" val="3358327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A0DFE72-78F5-29F0-2464-44F45A002B40}"/>
              </a:ext>
            </a:extLst>
          </p:cNvPr>
          <p:cNvPicPr>
            <a:picLocks noGrp="1" noChangeAspect="1"/>
          </p:cNvPicPr>
          <p:nvPr>
            <p:ph idx="1"/>
          </p:nvPr>
        </p:nvPicPr>
        <p:blipFill>
          <a:blip r:embed="rId2"/>
          <a:stretch>
            <a:fillRect/>
          </a:stretch>
        </p:blipFill>
        <p:spPr>
          <a:xfrm>
            <a:off x="838200" y="1888437"/>
            <a:ext cx="10515600" cy="4225713"/>
          </a:xfrm>
        </p:spPr>
      </p:pic>
    </p:spTree>
    <p:extLst>
      <p:ext uri="{BB962C8B-B14F-4D97-AF65-F5344CB8AC3E}">
        <p14:creationId xmlns:p14="http://schemas.microsoft.com/office/powerpoint/2010/main" val="1377317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7525"/>
            <a:ext cx="3983182" cy="955015"/>
          </a:xfrm>
        </p:spPr>
        <p:txBody>
          <a:bodyPr/>
          <a:lstStyle/>
          <a:p>
            <a:r>
              <a:rPr lang="en-IN" dirty="0"/>
              <a:t>Classification</a:t>
            </a:r>
          </a:p>
        </p:txBody>
      </p:sp>
      <p:pic>
        <p:nvPicPr>
          <p:cNvPr id="1032" name="Picture 8" descr="Classification Algorithm in Machine Learning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2804" y="2001539"/>
            <a:ext cx="4086225" cy="3619500"/>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txBox="1">
            <a:spLocks/>
          </p:cNvSpPr>
          <p:nvPr/>
        </p:nvSpPr>
        <p:spPr>
          <a:xfrm>
            <a:off x="7327075" y="617517"/>
            <a:ext cx="3740728" cy="676893"/>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Regression</a:t>
            </a:r>
          </a:p>
        </p:txBody>
      </p:sp>
      <p:pic>
        <p:nvPicPr>
          <p:cNvPr id="1034" name="Picture 10" descr="Linear Regression Machine Learning | Examples | Gate Vidyal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871" y="2001539"/>
            <a:ext cx="4819650" cy="3829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191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52AF9F6-1AA8-00EE-69A5-BCB49118050D}"/>
              </a:ext>
            </a:extLst>
          </p:cNvPr>
          <p:cNvPicPr>
            <a:picLocks noGrp="1" noChangeAspect="1"/>
          </p:cNvPicPr>
          <p:nvPr>
            <p:ph idx="1"/>
          </p:nvPr>
        </p:nvPicPr>
        <p:blipFill>
          <a:blip r:embed="rId2"/>
          <a:stretch>
            <a:fillRect/>
          </a:stretch>
        </p:blipFill>
        <p:spPr>
          <a:xfrm>
            <a:off x="504430" y="494522"/>
            <a:ext cx="9605349" cy="5682441"/>
          </a:xfrm>
        </p:spPr>
      </p:pic>
    </p:spTree>
    <p:extLst>
      <p:ext uri="{BB962C8B-B14F-4D97-AF65-F5344CB8AC3E}">
        <p14:creationId xmlns:p14="http://schemas.microsoft.com/office/powerpoint/2010/main" val="2901184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168E4-8207-2E49-218F-27EAAA769E31}"/>
              </a:ext>
            </a:extLst>
          </p:cNvPr>
          <p:cNvSpPr>
            <a:spLocks noGrp="1"/>
          </p:cNvSpPr>
          <p:nvPr>
            <p:ph type="title"/>
          </p:nvPr>
        </p:nvSpPr>
        <p:spPr/>
        <p:txBody>
          <a:bodyPr/>
          <a:lstStyle/>
          <a:p>
            <a:r>
              <a:rPr lang="en-US" b="1" dirty="0">
                <a:solidFill>
                  <a:schemeClr val="accent1">
                    <a:lumMod val="75000"/>
                  </a:schemeClr>
                </a:solidFill>
              </a:rPr>
              <a:t>Unsupervised Learning</a:t>
            </a:r>
            <a:endParaRPr lang="en-IN" b="1" dirty="0">
              <a:solidFill>
                <a:schemeClr val="accent1">
                  <a:lumMod val="75000"/>
                </a:schemeClr>
              </a:solidFill>
            </a:endParaRPr>
          </a:p>
        </p:txBody>
      </p:sp>
      <p:sp>
        <p:nvSpPr>
          <p:cNvPr id="3" name="Content Placeholder 2">
            <a:extLst>
              <a:ext uri="{FF2B5EF4-FFF2-40B4-BE49-F238E27FC236}">
                <a16:creationId xmlns:a16="http://schemas.microsoft.com/office/drawing/2014/main" id="{F6D5FD46-FD29-F5F5-76FB-E927FD984E33}"/>
              </a:ext>
            </a:extLst>
          </p:cNvPr>
          <p:cNvSpPr>
            <a:spLocks noGrp="1"/>
          </p:cNvSpPr>
          <p:nvPr>
            <p:ph idx="1"/>
          </p:nvPr>
        </p:nvSpPr>
        <p:spPr>
          <a:xfrm>
            <a:off x="671804" y="1362269"/>
            <a:ext cx="11056776" cy="4814694"/>
          </a:xfrm>
        </p:spPr>
        <p:txBody>
          <a:bodyPr>
            <a:normAutofit/>
          </a:bodyPr>
          <a:lstStyle/>
          <a:p>
            <a:pPr marL="0" indent="0">
              <a:buNone/>
            </a:pPr>
            <a:r>
              <a:rPr lang="en-US" dirty="0"/>
              <a:t>Unsupervised Learning is a class of Machine Learning techniques to find the patterns in data. The data given to unsupervised algorithm are not labelled, which means only the input variables(X) are given with no corresponding output variables. In unsupervised learning, the algorithms are left to themselves to discover interesting structures in the data. </a:t>
            </a:r>
          </a:p>
          <a:p>
            <a:pPr marL="0" indent="0">
              <a:buNone/>
            </a:pPr>
            <a:endParaRPr lang="en-US" b="1" dirty="0">
              <a:solidFill>
                <a:schemeClr val="accent5"/>
              </a:solidFill>
            </a:endParaRPr>
          </a:p>
          <a:p>
            <a:pPr marL="0" indent="0">
              <a:buNone/>
            </a:pPr>
            <a:endParaRPr lang="en-US" b="1" dirty="0">
              <a:solidFill>
                <a:schemeClr val="accent5"/>
              </a:solidFill>
            </a:endParaRPr>
          </a:p>
        </p:txBody>
      </p:sp>
      <p:pic>
        <p:nvPicPr>
          <p:cNvPr id="5" name="Picture 4">
            <a:extLst>
              <a:ext uri="{FF2B5EF4-FFF2-40B4-BE49-F238E27FC236}">
                <a16:creationId xmlns:a16="http://schemas.microsoft.com/office/drawing/2014/main" id="{2A026FE6-42A0-F839-D25B-00C593550E8E}"/>
              </a:ext>
            </a:extLst>
          </p:cNvPr>
          <p:cNvPicPr>
            <a:picLocks noChangeAspect="1"/>
          </p:cNvPicPr>
          <p:nvPr/>
        </p:nvPicPr>
        <p:blipFill>
          <a:blip r:embed="rId2"/>
          <a:stretch>
            <a:fillRect/>
          </a:stretch>
        </p:blipFill>
        <p:spPr>
          <a:xfrm>
            <a:off x="1498488" y="3694971"/>
            <a:ext cx="3764606" cy="2591025"/>
          </a:xfrm>
          <a:prstGeom prst="rect">
            <a:avLst/>
          </a:prstGeom>
        </p:spPr>
      </p:pic>
    </p:spTree>
    <p:extLst>
      <p:ext uri="{BB962C8B-B14F-4D97-AF65-F5344CB8AC3E}">
        <p14:creationId xmlns:p14="http://schemas.microsoft.com/office/powerpoint/2010/main" val="3818813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293B9B-EC4C-EC9A-9A93-CB6D03F9D16F}"/>
              </a:ext>
            </a:extLst>
          </p:cNvPr>
          <p:cNvSpPr>
            <a:spLocks noGrp="1"/>
          </p:cNvSpPr>
          <p:nvPr>
            <p:ph idx="1"/>
          </p:nvPr>
        </p:nvSpPr>
        <p:spPr>
          <a:xfrm>
            <a:off x="838200" y="839755"/>
            <a:ext cx="10515600" cy="5337208"/>
          </a:xfrm>
        </p:spPr>
        <p:txBody>
          <a:bodyPr>
            <a:normAutofit lnSpcReduction="10000"/>
          </a:bodyPr>
          <a:lstStyle/>
          <a:p>
            <a:pPr marL="0" indent="0">
              <a:buNone/>
            </a:pPr>
            <a:r>
              <a:rPr lang="en-US" b="1" dirty="0">
                <a:solidFill>
                  <a:schemeClr val="accent5"/>
                </a:solidFill>
              </a:rPr>
              <a:t>Clustering</a:t>
            </a:r>
            <a:r>
              <a:rPr lang="en-US" dirty="0"/>
              <a:t> - In clustering, the data is divided into several groups. In plain words, the aim is to segregate groups with similar traits and assign them into clusters.</a:t>
            </a:r>
          </a:p>
          <a:p>
            <a:pPr marL="0" indent="0">
              <a:buNone/>
            </a:pPr>
            <a:r>
              <a:rPr lang="en-US" b="1" i="0" dirty="0">
                <a:solidFill>
                  <a:srgbClr val="333333"/>
                </a:solidFill>
                <a:effectLst/>
                <a:latin typeface="inter-bold"/>
              </a:rPr>
              <a:t>Example - Netflix</a:t>
            </a:r>
            <a:r>
              <a:rPr lang="en-US" b="0" i="0" dirty="0">
                <a:solidFill>
                  <a:srgbClr val="333333"/>
                </a:solidFill>
                <a:effectLst/>
                <a:latin typeface="inter-regular"/>
              </a:rPr>
              <a:t> uses this technique to recommend the movies and web-series to its users as per the watch history.</a:t>
            </a:r>
            <a:endParaRPr lang="en-US" dirty="0"/>
          </a:p>
          <a:p>
            <a:pPr marL="0" indent="0">
              <a:buNone/>
            </a:pPr>
            <a:endParaRPr lang="en-US" dirty="0"/>
          </a:p>
          <a:p>
            <a:pPr marL="0" indent="0">
              <a:buNone/>
            </a:pPr>
            <a:r>
              <a:rPr lang="en-US" b="1" dirty="0">
                <a:solidFill>
                  <a:schemeClr val="accent5"/>
                </a:solidFill>
              </a:rPr>
              <a:t>Association</a:t>
            </a:r>
            <a:r>
              <a:rPr lang="en-US" dirty="0"/>
              <a:t> - </a:t>
            </a:r>
            <a:r>
              <a:rPr lang="en-US" b="0" i="0" dirty="0">
                <a:solidFill>
                  <a:srgbClr val="000000"/>
                </a:solidFill>
                <a:effectLst/>
                <a:latin typeface="inter-regular"/>
              </a:rPr>
              <a:t>An association rule is an unsupervised learning method which is used for finding the relationships between variables in the large database. It determines the set of items that occurs together in the dataset. Association rule makes marketing strategy more effective. </a:t>
            </a:r>
          </a:p>
          <a:p>
            <a:pPr marL="0" indent="0">
              <a:buNone/>
            </a:pPr>
            <a:r>
              <a:rPr lang="en-US" b="0" i="0" dirty="0">
                <a:solidFill>
                  <a:srgbClr val="000000"/>
                </a:solidFill>
                <a:effectLst/>
                <a:latin typeface="inter-regular"/>
              </a:rPr>
              <a:t>Such as people who buy X item (suppose a bread) are also tend to purchase Y (Butter/Jam) item. </a:t>
            </a:r>
            <a:r>
              <a:rPr lang="en-US" b="1" i="0" dirty="0">
                <a:solidFill>
                  <a:srgbClr val="000000"/>
                </a:solidFill>
                <a:effectLst/>
                <a:latin typeface="inter-regular"/>
              </a:rPr>
              <a:t>A typical example of Association rule is Market Basket Analysis.</a:t>
            </a:r>
            <a:endParaRPr lang="en-IN" b="1" dirty="0"/>
          </a:p>
          <a:p>
            <a:endParaRPr lang="en-IN" dirty="0"/>
          </a:p>
        </p:txBody>
      </p:sp>
    </p:spTree>
    <p:extLst>
      <p:ext uri="{BB962C8B-B14F-4D97-AF65-F5344CB8AC3E}">
        <p14:creationId xmlns:p14="http://schemas.microsoft.com/office/powerpoint/2010/main" val="786533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4CA01-2D86-6ADA-012E-2935EE493235}"/>
              </a:ext>
            </a:extLst>
          </p:cNvPr>
          <p:cNvSpPr>
            <a:spLocks noGrp="1"/>
          </p:cNvSpPr>
          <p:nvPr>
            <p:ph type="title"/>
          </p:nvPr>
        </p:nvSpPr>
        <p:spPr>
          <a:xfrm>
            <a:off x="1242935" y="3312826"/>
            <a:ext cx="10653596" cy="3349231"/>
          </a:xfrm>
        </p:spPr>
        <p:txBody>
          <a:bodyPr anchor="t">
            <a:normAutofit/>
          </a:bodyPr>
          <a:lstStyle/>
          <a:p>
            <a:r>
              <a:rPr lang="en-IN" sz="2800" dirty="0"/>
              <a:t>Unsupervised learning describes a class of problems that involves a model to describe or </a:t>
            </a:r>
            <a:r>
              <a:rPr lang="en-IN" sz="2800" b="1" dirty="0"/>
              <a:t>extract relationships in data</a:t>
            </a:r>
            <a:r>
              <a:rPr lang="en-IN" sz="2800" dirty="0"/>
              <a:t>. Unsupervised learning operates upon only the input data without outputs or target variables. Unsupervised learning </a:t>
            </a:r>
            <a:r>
              <a:rPr lang="en-IN" sz="2800" b="1" dirty="0"/>
              <a:t>does not have any teacher </a:t>
            </a:r>
            <a:r>
              <a:rPr lang="en-IN" sz="2800" dirty="0"/>
              <a:t>correcting the model.</a:t>
            </a:r>
            <a:br>
              <a:rPr lang="en-IN" sz="2800" dirty="0"/>
            </a:br>
            <a:br>
              <a:rPr lang="en-IN" sz="2800" dirty="0"/>
            </a:br>
            <a:endParaRPr lang="en-IN" sz="2800" dirty="0"/>
          </a:p>
        </p:txBody>
      </p:sp>
      <p:pic>
        <p:nvPicPr>
          <p:cNvPr id="5" name="Content Placeholder 4">
            <a:extLst>
              <a:ext uri="{FF2B5EF4-FFF2-40B4-BE49-F238E27FC236}">
                <a16:creationId xmlns:a16="http://schemas.microsoft.com/office/drawing/2014/main" id="{ACF3BE9F-AEE2-C1DE-B319-C479B06E3392}"/>
              </a:ext>
            </a:extLst>
          </p:cNvPr>
          <p:cNvPicPr>
            <a:picLocks noGrp="1" noChangeAspect="1"/>
          </p:cNvPicPr>
          <p:nvPr>
            <p:ph idx="1"/>
          </p:nvPr>
        </p:nvPicPr>
        <p:blipFill>
          <a:blip r:embed="rId2"/>
          <a:stretch>
            <a:fillRect/>
          </a:stretch>
        </p:blipFill>
        <p:spPr>
          <a:xfrm>
            <a:off x="1097687" y="422716"/>
            <a:ext cx="5403048" cy="2606266"/>
          </a:xfrm>
        </p:spPr>
      </p:pic>
    </p:spTree>
    <p:extLst>
      <p:ext uri="{BB962C8B-B14F-4D97-AF65-F5344CB8AC3E}">
        <p14:creationId xmlns:p14="http://schemas.microsoft.com/office/powerpoint/2010/main" val="3722066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A938F-EDE3-A0ED-0237-55D7DB16D0B3}"/>
              </a:ext>
            </a:extLst>
          </p:cNvPr>
          <p:cNvSpPr>
            <a:spLocks noGrp="1"/>
          </p:cNvSpPr>
          <p:nvPr>
            <p:ph type="title"/>
          </p:nvPr>
        </p:nvSpPr>
        <p:spPr>
          <a:xfrm>
            <a:off x="838200" y="365125"/>
            <a:ext cx="10515600" cy="829193"/>
          </a:xfrm>
        </p:spPr>
        <p:txBody>
          <a:bodyPr>
            <a:normAutofit fontScale="90000"/>
          </a:bodyPr>
          <a:lstStyle/>
          <a:p>
            <a:r>
              <a:rPr lang="en-IN" b="1" dirty="0">
                <a:solidFill>
                  <a:schemeClr val="accent5"/>
                </a:solidFill>
              </a:rPr>
              <a:t>Supervised Learning		Unsupervised Learning</a:t>
            </a:r>
            <a:endParaRPr lang="en-IN" dirty="0">
              <a:solidFill>
                <a:schemeClr val="accent5"/>
              </a:solidFill>
            </a:endParaRPr>
          </a:p>
        </p:txBody>
      </p:sp>
      <p:graphicFrame>
        <p:nvGraphicFramePr>
          <p:cNvPr id="4" name="Table 4">
            <a:extLst>
              <a:ext uri="{FF2B5EF4-FFF2-40B4-BE49-F238E27FC236}">
                <a16:creationId xmlns:a16="http://schemas.microsoft.com/office/drawing/2014/main" id="{A070731D-9CEB-BFBB-94C6-E13BC226EAB0}"/>
              </a:ext>
            </a:extLst>
          </p:cNvPr>
          <p:cNvGraphicFramePr>
            <a:graphicFrameLocks noGrp="1"/>
          </p:cNvGraphicFramePr>
          <p:nvPr>
            <p:ph idx="1"/>
            <p:extLst>
              <p:ext uri="{D42A27DB-BD31-4B8C-83A1-F6EECF244321}">
                <p14:modId xmlns:p14="http://schemas.microsoft.com/office/powerpoint/2010/main" val="1916000671"/>
              </p:ext>
            </p:extLst>
          </p:nvPr>
        </p:nvGraphicFramePr>
        <p:xfrm>
          <a:off x="838200" y="1315616"/>
          <a:ext cx="10515600" cy="456267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919722376"/>
                    </a:ext>
                  </a:extLst>
                </a:gridCol>
                <a:gridCol w="5257800">
                  <a:extLst>
                    <a:ext uri="{9D8B030D-6E8A-4147-A177-3AD203B41FA5}">
                      <a16:colId xmlns:a16="http://schemas.microsoft.com/office/drawing/2014/main" val="1314733480"/>
                    </a:ext>
                  </a:extLst>
                </a:gridCol>
              </a:tblGrid>
              <a:tr h="912534">
                <a:tc>
                  <a:txBody>
                    <a:bodyPr/>
                    <a:lstStyle/>
                    <a:p>
                      <a:pPr algn="just" fontAlgn="t"/>
                      <a:r>
                        <a:rPr lang="en-US" dirty="0">
                          <a:solidFill>
                            <a:srgbClr val="333333"/>
                          </a:solidFill>
                          <a:effectLst/>
                          <a:latin typeface="inter-regular"/>
                        </a:rPr>
                        <a:t>Supervised learning algorithms are trained using labeled data.</a:t>
                      </a:r>
                    </a:p>
                  </a:txBody>
                  <a:tcPr marL="60960" marR="60960" marT="60960" marB="60960"/>
                </a:tc>
                <a:tc>
                  <a:txBody>
                    <a:bodyPr/>
                    <a:lstStyle/>
                    <a:p>
                      <a:pPr algn="just" fontAlgn="t"/>
                      <a:r>
                        <a:rPr lang="en-US" dirty="0">
                          <a:solidFill>
                            <a:srgbClr val="333333"/>
                          </a:solidFill>
                          <a:effectLst/>
                          <a:latin typeface="inter-regular"/>
                        </a:rPr>
                        <a:t>Unsupervised learning algorithms are trained using unlabeled data.</a:t>
                      </a:r>
                    </a:p>
                  </a:txBody>
                  <a:tcPr marL="60960" marR="60960" marT="60960" marB="60960"/>
                </a:tc>
                <a:extLst>
                  <a:ext uri="{0D108BD9-81ED-4DB2-BD59-A6C34878D82A}">
                    <a16:rowId xmlns:a16="http://schemas.microsoft.com/office/drawing/2014/main" val="1218553322"/>
                  </a:ext>
                </a:extLst>
              </a:tr>
              <a:tr h="912534">
                <a:tc>
                  <a:txBody>
                    <a:bodyPr/>
                    <a:lstStyle/>
                    <a:p>
                      <a:pPr algn="just" fontAlgn="t"/>
                      <a:r>
                        <a:rPr lang="en-US" dirty="0">
                          <a:solidFill>
                            <a:srgbClr val="333333"/>
                          </a:solidFill>
                          <a:effectLst/>
                          <a:latin typeface="inter-regular"/>
                        </a:rPr>
                        <a:t>Supervised learning model takes direct feedback to check if it is predicting correct output or not.</a:t>
                      </a:r>
                    </a:p>
                  </a:txBody>
                  <a:tcPr marL="60960" marR="60960" marT="60960" marB="60960"/>
                </a:tc>
                <a:tc>
                  <a:txBody>
                    <a:bodyPr/>
                    <a:lstStyle/>
                    <a:p>
                      <a:pPr algn="just" fontAlgn="t"/>
                      <a:r>
                        <a:rPr lang="en-US" dirty="0">
                          <a:solidFill>
                            <a:srgbClr val="333333"/>
                          </a:solidFill>
                          <a:effectLst/>
                          <a:latin typeface="inter-regular"/>
                        </a:rPr>
                        <a:t>Unsupervised learning model does not take any feedback.</a:t>
                      </a:r>
                    </a:p>
                  </a:txBody>
                  <a:tcPr marL="60960" marR="60960" marT="60960" marB="60960"/>
                </a:tc>
                <a:extLst>
                  <a:ext uri="{0D108BD9-81ED-4DB2-BD59-A6C34878D82A}">
                    <a16:rowId xmlns:a16="http://schemas.microsoft.com/office/drawing/2014/main" val="3516097652"/>
                  </a:ext>
                </a:extLst>
              </a:tr>
              <a:tr h="912534">
                <a:tc>
                  <a:txBody>
                    <a:bodyPr/>
                    <a:lstStyle/>
                    <a:p>
                      <a:pPr algn="just" fontAlgn="t"/>
                      <a:r>
                        <a:rPr lang="en-US" dirty="0">
                          <a:solidFill>
                            <a:srgbClr val="333333"/>
                          </a:solidFill>
                          <a:effectLst/>
                          <a:latin typeface="inter-regular"/>
                        </a:rPr>
                        <a:t>Supervised learning model predicts the output.</a:t>
                      </a:r>
                    </a:p>
                  </a:txBody>
                  <a:tcPr marL="60960" marR="60960" marT="60960" marB="60960"/>
                </a:tc>
                <a:tc>
                  <a:txBody>
                    <a:bodyPr/>
                    <a:lstStyle/>
                    <a:p>
                      <a:pPr algn="just" fontAlgn="t"/>
                      <a:r>
                        <a:rPr lang="en-US" dirty="0">
                          <a:solidFill>
                            <a:srgbClr val="333333"/>
                          </a:solidFill>
                          <a:effectLst/>
                          <a:latin typeface="inter-regular"/>
                        </a:rPr>
                        <a:t>Unsupervised learning model finds the hidden patterns in data.</a:t>
                      </a:r>
                    </a:p>
                  </a:txBody>
                  <a:tcPr marL="60960" marR="60960" marT="60960" marB="60960"/>
                </a:tc>
                <a:extLst>
                  <a:ext uri="{0D108BD9-81ED-4DB2-BD59-A6C34878D82A}">
                    <a16:rowId xmlns:a16="http://schemas.microsoft.com/office/drawing/2014/main" val="1049407531"/>
                  </a:ext>
                </a:extLst>
              </a:tr>
              <a:tr h="912534">
                <a:tc>
                  <a:txBody>
                    <a:bodyPr/>
                    <a:lstStyle/>
                    <a:p>
                      <a:pPr algn="just" fontAlgn="t"/>
                      <a:r>
                        <a:rPr lang="en-US" dirty="0">
                          <a:solidFill>
                            <a:srgbClr val="333333"/>
                          </a:solidFill>
                          <a:effectLst/>
                          <a:latin typeface="inter-regular"/>
                        </a:rPr>
                        <a:t>Supervised learning needs supervision to train the model.</a:t>
                      </a:r>
                    </a:p>
                  </a:txBody>
                  <a:tcPr marL="60960" marR="60960" marT="60960" marB="60960"/>
                </a:tc>
                <a:tc>
                  <a:txBody>
                    <a:bodyPr/>
                    <a:lstStyle/>
                    <a:p>
                      <a:pPr algn="just" fontAlgn="t"/>
                      <a:r>
                        <a:rPr lang="en-US" dirty="0">
                          <a:solidFill>
                            <a:srgbClr val="333333"/>
                          </a:solidFill>
                          <a:effectLst/>
                          <a:latin typeface="inter-regular"/>
                        </a:rPr>
                        <a:t>Unsupervised learning does not need any supervision to train the model.</a:t>
                      </a:r>
                    </a:p>
                  </a:txBody>
                  <a:tcPr marL="60960" marR="60960" marT="60960" marB="60960"/>
                </a:tc>
                <a:extLst>
                  <a:ext uri="{0D108BD9-81ED-4DB2-BD59-A6C34878D82A}">
                    <a16:rowId xmlns:a16="http://schemas.microsoft.com/office/drawing/2014/main" val="632305409"/>
                  </a:ext>
                </a:extLst>
              </a:tr>
              <a:tr h="912534">
                <a:tc>
                  <a:txBody>
                    <a:bodyPr/>
                    <a:lstStyle/>
                    <a:p>
                      <a:pPr algn="just" fontAlgn="t"/>
                      <a:r>
                        <a:rPr lang="en-US" dirty="0">
                          <a:solidFill>
                            <a:srgbClr val="333333"/>
                          </a:solidFill>
                          <a:effectLst/>
                          <a:latin typeface="inter-regular"/>
                        </a:rPr>
                        <a:t>Supervised learning can be categorized in </a:t>
                      </a:r>
                      <a:r>
                        <a:rPr lang="en-US" b="1" dirty="0">
                          <a:solidFill>
                            <a:srgbClr val="333333"/>
                          </a:solidFill>
                          <a:effectLst/>
                          <a:latin typeface="inter-bold"/>
                        </a:rPr>
                        <a:t>Classification</a:t>
                      </a:r>
                      <a:r>
                        <a:rPr lang="en-US" dirty="0">
                          <a:solidFill>
                            <a:srgbClr val="333333"/>
                          </a:solidFill>
                          <a:effectLst/>
                          <a:latin typeface="inter-regular"/>
                        </a:rPr>
                        <a:t> and </a:t>
                      </a:r>
                      <a:r>
                        <a:rPr lang="en-US" b="1" dirty="0">
                          <a:solidFill>
                            <a:srgbClr val="333333"/>
                          </a:solidFill>
                          <a:effectLst/>
                          <a:latin typeface="inter-bold"/>
                        </a:rPr>
                        <a:t>Regression</a:t>
                      </a:r>
                      <a:r>
                        <a:rPr lang="en-US" dirty="0">
                          <a:solidFill>
                            <a:srgbClr val="333333"/>
                          </a:solidFill>
                          <a:effectLst/>
                          <a:latin typeface="inter-regular"/>
                        </a:rPr>
                        <a:t> problems.</a:t>
                      </a:r>
                    </a:p>
                  </a:txBody>
                  <a:tcPr marL="60960" marR="60960" marT="60960" marB="60960"/>
                </a:tc>
                <a:tc>
                  <a:txBody>
                    <a:bodyPr/>
                    <a:lstStyle/>
                    <a:p>
                      <a:pPr algn="just" fontAlgn="t"/>
                      <a:r>
                        <a:rPr lang="en-US" dirty="0">
                          <a:solidFill>
                            <a:srgbClr val="333333"/>
                          </a:solidFill>
                          <a:effectLst/>
                          <a:latin typeface="inter-regular"/>
                        </a:rPr>
                        <a:t>Unsupervised Learning can be classified in </a:t>
                      </a:r>
                      <a:r>
                        <a:rPr lang="en-US" b="1" dirty="0">
                          <a:solidFill>
                            <a:srgbClr val="333333"/>
                          </a:solidFill>
                          <a:effectLst/>
                          <a:latin typeface="inter-bold"/>
                        </a:rPr>
                        <a:t>Clustering</a:t>
                      </a:r>
                      <a:r>
                        <a:rPr lang="en-US" dirty="0">
                          <a:solidFill>
                            <a:srgbClr val="333333"/>
                          </a:solidFill>
                          <a:effectLst/>
                          <a:latin typeface="inter-regular"/>
                        </a:rPr>
                        <a:t> and </a:t>
                      </a:r>
                      <a:r>
                        <a:rPr lang="en-US" b="1" dirty="0">
                          <a:solidFill>
                            <a:srgbClr val="333333"/>
                          </a:solidFill>
                          <a:effectLst/>
                          <a:latin typeface="inter-bold"/>
                        </a:rPr>
                        <a:t>Associations</a:t>
                      </a:r>
                      <a:r>
                        <a:rPr lang="en-US" dirty="0">
                          <a:solidFill>
                            <a:srgbClr val="333333"/>
                          </a:solidFill>
                          <a:effectLst/>
                          <a:latin typeface="inter-regular"/>
                        </a:rPr>
                        <a:t> problems.</a:t>
                      </a:r>
                    </a:p>
                  </a:txBody>
                  <a:tcPr marL="60960" marR="60960" marT="60960" marB="60960"/>
                </a:tc>
                <a:extLst>
                  <a:ext uri="{0D108BD9-81ED-4DB2-BD59-A6C34878D82A}">
                    <a16:rowId xmlns:a16="http://schemas.microsoft.com/office/drawing/2014/main" val="2939292505"/>
                  </a:ext>
                </a:extLst>
              </a:tr>
            </a:tbl>
          </a:graphicData>
        </a:graphic>
      </p:graphicFrame>
    </p:spTree>
    <p:extLst>
      <p:ext uri="{BB962C8B-B14F-4D97-AF65-F5344CB8AC3E}">
        <p14:creationId xmlns:p14="http://schemas.microsoft.com/office/powerpoint/2010/main" val="4241558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7B5E-EA90-7867-C6A4-AFE82047546C}"/>
              </a:ext>
            </a:extLst>
          </p:cNvPr>
          <p:cNvSpPr>
            <a:spLocks noGrp="1"/>
          </p:cNvSpPr>
          <p:nvPr>
            <p:ph type="title"/>
          </p:nvPr>
        </p:nvSpPr>
        <p:spPr>
          <a:xfrm>
            <a:off x="838200" y="365126"/>
            <a:ext cx="10515600" cy="651912"/>
          </a:xfrm>
        </p:spPr>
        <p:txBody>
          <a:bodyPr>
            <a:normAutofit fontScale="90000"/>
          </a:bodyPr>
          <a:lstStyle/>
          <a:p>
            <a:r>
              <a:rPr lang="en-IN" b="1" dirty="0">
                <a:solidFill>
                  <a:schemeClr val="accent5"/>
                </a:solidFill>
              </a:rPr>
              <a:t>Supervised Learning		Unsupervised Learning</a:t>
            </a:r>
          </a:p>
        </p:txBody>
      </p:sp>
      <p:graphicFrame>
        <p:nvGraphicFramePr>
          <p:cNvPr id="5" name="Table 5">
            <a:extLst>
              <a:ext uri="{FF2B5EF4-FFF2-40B4-BE49-F238E27FC236}">
                <a16:creationId xmlns:a16="http://schemas.microsoft.com/office/drawing/2014/main" id="{9367343A-A194-14DF-F86B-7B2EC78B2D23}"/>
              </a:ext>
            </a:extLst>
          </p:cNvPr>
          <p:cNvGraphicFramePr>
            <a:graphicFrameLocks noGrp="1"/>
          </p:cNvGraphicFramePr>
          <p:nvPr>
            <p:ph idx="1"/>
            <p:extLst>
              <p:ext uri="{D42A27DB-BD31-4B8C-83A1-F6EECF244321}">
                <p14:modId xmlns:p14="http://schemas.microsoft.com/office/powerpoint/2010/main" val="3271440119"/>
              </p:ext>
            </p:extLst>
          </p:nvPr>
        </p:nvGraphicFramePr>
        <p:xfrm>
          <a:off x="838200" y="1017039"/>
          <a:ext cx="10515600" cy="2163595"/>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281806437"/>
                    </a:ext>
                  </a:extLst>
                </a:gridCol>
                <a:gridCol w="5257800">
                  <a:extLst>
                    <a:ext uri="{9D8B030D-6E8A-4147-A177-3AD203B41FA5}">
                      <a16:colId xmlns:a16="http://schemas.microsoft.com/office/drawing/2014/main" val="284246983"/>
                    </a:ext>
                  </a:extLst>
                </a:gridCol>
              </a:tblGrid>
              <a:tr h="944395">
                <a:tc>
                  <a:txBody>
                    <a:bodyPr/>
                    <a:lstStyle/>
                    <a:p>
                      <a:pPr algn="just" fontAlgn="t"/>
                      <a:r>
                        <a:rPr lang="en-US" dirty="0">
                          <a:solidFill>
                            <a:srgbClr val="333333"/>
                          </a:solidFill>
                          <a:effectLst/>
                          <a:latin typeface="inter-regular"/>
                        </a:rPr>
                        <a:t>Supervised learning model produces an accurate result.</a:t>
                      </a:r>
                    </a:p>
                  </a:txBody>
                  <a:tcPr marL="60960" marR="60960" marT="60960" marB="60960"/>
                </a:tc>
                <a:tc>
                  <a:txBody>
                    <a:bodyPr/>
                    <a:lstStyle/>
                    <a:p>
                      <a:pPr algn="just" fontAlgn="t"/>
                      <a:r>
                        <a:rPr lang="en-US" dirty="0">
                          <a:solidFill>
                            <a:srgbClr val="333333"/>
                          </a:solidFill>
                          <a:effectLst/>
                          <a:latin typeface="inter-regular"/>
                        </a:rPr>
                        <a:t>Unsupervised learning model may give less accurate result as compared to supervised learning.</a:t>
                      </a:r>
                    </a:p>
                  </a:txBody>
                  <a:tcPr marL="60960" marR="60960" marT="60960" marB="60960"/>
                </a:tc>
                <a:extLst>
                  <a:ext uri="{0D108BD9-81ED-4DB2-BD59-A6C34878D82A}">
                    <a16:rowId xmlns:a16="http://schemas.microsoft.com/office/drawing/2014/main" val="2639801602"/>
                  </a:ext>
                </a:extLst>
              </a:tr>
              <a:tr h="959048">
                <a:tc>
                  <a:txBody>
                    <a:bodyPr/>
                    <a:lstStyle/>
                    <a:p>
                      <a:pPr algn="just" fontAlgn="t"/>
                      <a:r>
                        <a:rPr lang="en-US" dirty="0">
                          <a:solidFill>
                            <a:srgbClr val="333333"/>
                          </a:solidFill>
                          <a:effectLst/>
                          <a:latin typeface="inter-regular"/>
                        </a:rPr>
                        <a:t>It includes various algorithms such as Linear Regression, Logistic Regression, Support Vector Machine, Multi-class Classification, Decision tree, Bayesian Logic, etc.</a:t>
                      </a:r>
                    </a:p>
                  </a:txBody>
                  <a:tcPr marL="60960" marR="60960" marT="60960" marB="60960"/>
                </a:tc>
                <a:tc>
                  <a:txBody>
                    <a:bodyPr/>
                    <a:lstStyle/>
                    <a:p>
                      <a:pPr algn="just" fontAlgn="t"/>
                      <a:r>
                        <a:rPr lang="en-US" dirty="0">
                          <a:solidFill>
                            <a:srgbClr val="333333"/>
                          </a:solidFill>
                          <a:effectLst/>
                          <a:latin typeface="inter-regular"/>
                        </a:rPr>
                        <a:t>It includes various algorithms such as Clustering, KNN, and PCA algorithm.</a:t>
                      </a:r>
                    </a:p>
                  </a:txBody>
                  <a:tcPr marL="60960" marR="60960" marT="60960" marB="60960"/>
                </a:tc>
                <a:extLst>
                  <a:ext uri="{0D108BD9-81ED-4DB2-BD59-A6C34878D82A}">
                    <a16:rowId xmlns:a16="http://schemas.microsoft.com/office/drawing/2014/main" val="3816100761"/>
                  </a:ext>
                </a:extLst>
              </a:tr>
            </a:tbl>
          </a:graphicData>
        </a:graphic>
      </p:graphicFrame>
    </p:spTree>
    <p:extLst>
      <p:ext uri="{BB962C8B-B14F-4D97-AF65-F5344CB8AC3E}">
        <p14:creationId xmlns:p14="http://schemas.microsoft.com/office/powerpoint/2010/main" val="4020540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AD6E8-83F6-2362-0F50-D0A1BDDDCB41}"/>
              </a:ext>
            </a:extLst>
          </p:cNvPr>
          <p:cNvSpPr>
            <a:spLocks noGrp="1"/>
          </p:cNvSpPr>
          <p:nvPr>
            <p:ph type="title"/>
          </p:nvPr>
        </p:nvSpPr>
        <p:spPr>
          <a:xfrm>
            <a:off x="838200" y="365126"/>
            <a:ext cx="10515600" cy="931830"/>
          </a:xfrm>
        </p:spPr>
        <p:txBody>
          <a:bodyPr>
            <a:normAutofit/>
          </a:bodyPr>
          <a:lstStyle/>
          <a:p>
            <a:r>
              <a:rPr lang="en-IN" sz="4000" b="1" dirty="0">
                <a:solidFill>
                  <a:schemeClr val="accent1">
                    <a:lumMod val="75000"/>
                  </a:schemeClr>
                </a:solidFill>
              </a:rPr>
              <a:t>Reinforcement Learning</a:t>
            </a:r>
          </a:p>
        </p:txBody>
      </p:sp>
      <p:sp>
        <p:nvSpPr>
          <p:cNvPr id="8" name="Content Placeholder 7">
            <a:extLst>
              <a:ext uri="{FF2B5EF4-FFF2-40B4-BE49-F238E27FC236}">
                <a16:creationId xmlns:a16="http://schemas.microsoft.com/office/drawing/2014/main" id="{8DCC5A47-080D-A56E-2B0B-B14A4D1ED469}"/>
              </a:ext>
            </a:extLst>
          </p:cNvPr>
          <p:cNvSpPr>
            <a:spLocks noGrp="1"/>
          </p:cNvSpPr>
          <p:nvPr>
            <p:ph idx="1"/>
          </p:nvPr>
        </p:nvSpPr>
        <p:spPr>
          <a:xfrm>
            <a:off x="838200" y="1399592"/>
            <a:ext cx="10629122" cy="5284443"/>
          </a:xfrm>
        </p:spPr>
        <p:txBody>
          <a:bodyPr/>
          <a:lstStyle/>
          <a:p>
            <a:pPr marL="0" indent="0">
              <a:buNone/>
            </a:pPr>
            <a:r>
              <a:rPr lang="en-IN" dirty="0"/>
              <a:t>Reinforcement learning describes a class of problems where an agent operates in an environment and must learn to operate using feedback. Reinforcement learning is learning what to do – how to map situations to actions so as to maximise a numerical reward signal. The learner is not told which actions to take, but instead must discover which actions yield the most reward by trying them.</a:t>
            </a:r>
          </a:p>
          <a:p>
            <a:pPr marL="0" indent="0">
              <a:buNone/>
            </a:pPr>
            <a:r>
              <a:rPr lang="en-IN" dirty="0"/>
              <a:t> </a:t>
            </a:r>
          </a:p>
        </p:txBody>
      </p:sp>
      <p:pic>
        <p:nvPicPr>
          <p:cNvPr id="10" name="Picture 9">
            <a:extLst>
              <a:ext uri="{FF2B5EF4-FFF2-40B4-BE49-F238E27FC236}">
                <a16:creationId xmlns:a16="http://schemas.microsoft.com/office/drawing/2014/main" id="{ED1FA149-B0DD-8C34-B556-AAA17EDFFBD0}"/>
              </a:ext>
            </a:extLst>
          </p:cNvPr>
          <p:cNvPicPr>
            <a:picLocks noChangeAspect="1"/>
          </p:cNvPicPr>
          <p:nvPr/>
        </p:nvPicPr>
        <p:blipFill>
          <a:blip r:embed="rId2"/>
          <a:stretch>
            <a:fillRect/>
          </a:stretch>
        </p:blipFill>
        <p:spPr>
          <a:xfrm>
            <a:off x="3554510" y="3719598"/>
            <a:ext cx="5082980" cy="2964437"/>
          </a:xfrm>
          <a:prstGeom prst="rect">
            <a:avLst/>
          </a:prstGeom>
        </p:spPr>
      </p:pic>
    </p:spTree>
    <p:extLst>
      <p:ext uri="{BB962C8B-B14F-4D97-AF65-F5344CB8AC3E}">
        <p14:creationId xmlns:p14="http://schemas.microsoft.com/office/powerpoint/2010/main" val="2662066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BCCF-D784-ADDE-33D4-E40AF7F927F0}"/>
              </a:ext>
            </a:extLst>
          </p:cNvPr>
          <p:cNvSpPr>
            <a:spLocks noGrp="1"/>
          </p:cNvSpPr>
          <p:nvPr>
            <p:ph type="title"/>
          </p:nvPr>
        </p:nvSpPr>
        <p:spPr>
          <a:xfrm>
            <a:off x="838200" y="365126"/>
            <a:ext cx="10515600" cy="679904"/>
          </a:xfrm>
        </p:spPr>
        <p:txBody>
          <a:bodyPr>
            <a:normAutofit fontScale="90000"/>
          </a:bodyPr>
          <a:lstStyle/>
          <a:p>
            <a:r>
              <a:rPr lang="en-IN" b="1" dirty="0">
                <a:solidFill>
                  <a:schemeClr val="accent5"/>
                </a:solidFill>
              </a:rPr>
              <a:t>Applications of Machine Learning</a:t>
            </a:r>
          </a:p>
        </p:txBody>
      </p:sp>
      <p:pic>
        <p:nvPicPr>
          <p:cNvPr id="4" name="Content Placeholder 3">
            <a:extLst>
              <a:ext uri="{FF2B5EF4-FFF2-40B4-BE49-F238E27FC236}">
                <a16:creationId xmlns:a16="http://schemas.microsoft.com/office/drawing/2014/main" id="{26D249C6-40D2-1B8F-8FAA-28F847E17F32}"/>
              </a:ext>
            </a:extLst>
          </p:cNvPr>
          <p:cNvPicPr>
            <a:picLocks noGrp="1" noChangeAspect="1"/>
          </p:cNvPicPr>
          <p:nvPr>
            <p:ph idx="1"/>
          </p:nvPr>
        </p:nvPicPr>
        <p:blipFill>
          <a:blip r:embed="rId2"/>
          <a:stretch>
            <a:fillRect/>
          </a:stretch>
        </p:blipFill>
        <p:spPr>
          <a:xfrm>
            <a:off x="1082351" y="1045030"/>
            <a:ext cx="7500586" cy="5570374"/>
          </a:xfrm>
          <a:prstGeom prst="rect">
            <a:avLst/>
          </a:prstGeom>
        </p:spPr>
      </p:pic>
    </p:spTree>
    <p:extLst>
      <p:ext uri="{BB962C8B-B14F-4D97-AF65-F5344CB8AC3E}">
        <p14:creationId xmlns:p14="http://schemas.microsoft.com/office/powerpoint/2010/main" val="945406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48D6E-4C12-22A6-C9CA-9D2C9BD200FC}"/>
              </a:ext>
            </a:extLst>
          </p:cNvPr>
          <p:cNvSpPr>
            <a:spLocks noGrp="1"/>
          </p:cNvSpPr>
          <p:nvPr>
            <p:ph type="title"/>
          </p:nvPr>
        </p:nvSpPr>
        <p:spPr/>
        <p:txBody>
          <a:bodyPr>
            <a:normAutofit/>
          </a:bodyPr>
          <a:lstStyle/>
          <a:p>
            <a:r>
              <a:rPr lang="en-IN" sz="4000" b="1" dirty="0">
                <a:solidFill>
                  <a:schemeClr val="accent1">
                    <a:lumMod val="75000"/>
                  </a:schemeClr>
                </a:solidFill>
              </a:rPr>
              <a:t>Applications of Machine Learning</a:t>
            </a:r>
          </a:p>
        </p:txBody>
      </p:sp>
      <p:pic>
        <p:nvPicPr>
          <p:cNvPr id="5" name="Content Placeholder 4">
            <a:extLst>
              <a:ext uri="{FF2B5EF4-FFF2-40B4-BE49-F238E27FC236}">
                <a16:creationId xmlns:a16="http://schemas.microsoft.com/office/drawing/2014/main" id="{25C9527E-556F-768C-9A58-9CAF5387A521}"/>
              </a:ext>
            </a:extLst>
          </p:cNvPr>
          <p:cNvPicPr>
            <a:picLocks noGrp="1" noChangeAspect="1"/>
          </p:cNvPicPr>
          <p:nvPr>
            <p:ph idx="1"/>
          </p:nvPr>
        </p:nvPicPr>
        <p:blipFill>
          <a:blip r:embed="rId2"/>
          <a:stretch>
            <a:fillRect/>
          </a:stretch>
        </p:blipFill>
        <p:spPr>
          <a:xfrm>
            <a:off x="838200" y="2478673"/>
            <a:ext cx="10515600" cy="3045241"/>
          </a:xfrm>
        </p:spPr>
      </p:pic>
    </p:spTree>
    <p:extLst>
      <p:ext uri="{BB962C8B-B14F-4D97-AF65-F5344CB8AC3E}">
        <p14:creationId xmlns:p14="http://schemas.microsoft.com/office/powerpoint/2010/main" val="3833761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7AEDB-42C4-AD48-7EA3-7C96FCA85E0E}"/>
              </a:ext>
            </a:extLst>
          </p:cNvPr>
          <p:cNvSpPr>
            <a:spLocks noGrp="1"/>
          </p:cNvSpPr>
          <p:nvPr>
            <p:ph type="title"/>
          </p:nvPr>
        </p:nvSpPr>
        <p:spPr/>
        <p:txBody>
          <a:bodyPr/>
          <a:lstStyle/>
          <a:p>
            <a:r>
              <a:rPr lang="en-IN" b="1" dirty="0"/>
              <a:t>Important Questions</a:t>
            </a:r>
          </a:p>
        </p:txBody>
      </p:sp>
      <p:sp>
        <p:nvSpPr>
          <p:cNvPr id="3" name="Content Placeholder 2">
            <a:extLst>
              <a:ext uri="{FF2B5EF4-FFF2-40B4-BE49-F238E27FC236}">
                <a16:creationId xmlns:a16="http://schemas.microsoft.com/office/drawing/2014/main" id="{89371A73-D8ED-D2A9-6BAA-70403DD9C940}"/>
              </a:ext>
            </a:extLst>
          </p:cNvPr>
          <p:cNvSpPr>
            <a:spLocks noGrp="1"/>
          </p:cNvSpPr>
          <p:nvPr>
            <p:ph idx="1"/>
          </p:nvPr>
        </p:nvSpPr>
        <p:spPr/>
        <p:txBody>
          <a:bodyPr/>
          <a:lstStyle/>
          <a:p>
            <a:pPr marL="514350" indent="-514350">
              <a:buAutoNum type="arabicPeriod"/>
            </a:pPr>
            <a:r>
              <a:rPr lang="en-IN" dirty="0"/>
              <a:t>What is machine learning? Explain different types of machine learning. </a:t>
            </a:r>
          </a:p>
          <a:p>
            <a:pPr marL="514350" indent="-514350">
              <a:buAutoNum type="arabicPeriod"/>
            </a:pPr>
            <a:r>
              <a:rPr lang="en-IN" dirty="0"/>
              <a:t>Difference between supervised and unsupervised learning.   </a:t>
            </a:r>
          </a:p>
          <a:p>
            <a:pPr marL="514350" indent="-514350">
              <a:buAutoNum type="arabicPeriod"/>
            </a:pPr>
            <a:r>
              <a:rPr lang="en-IN" dirty="0"/>
              <a:t>Difference between regression and classification.		</a:t>
            </a:r>
          </a:p>
          <a:p>
            <a:pPr marL="514350" indent="-514350">
              <a:buAutoNum type="arabicPeriod"/>
            </a:pPr>
            <a:r>
              <a:rPr lang="en-IN" dirty="0"/>
              <a:t>Explain the different application areas of machine learning.   </a:t>
            </a:r>
          </a:p>
          <a:p>
            <a:pPr marL="514350" indent="-514350">
              <a:buAutoNum type="arabicPeriod" startAt="5"/>
            </a:pPr>
            <a:r>
              <a:rPr lang="en-IN" dirty="0"/>
              <a:t>How can we represent a supervised learning model. Explain. </a:t>
            </a:r>
          </a:p>
          <a:p>
            <a:pPr marL="514350" indent="-514350">
              <a:buAutoNum type="arabicPeriod" startAt="5"/>
            </a:pPr>
            <a:r>
              <a:rPr lang="en-IN" dirty="0"/>
              <a:t>Write short note on Reinforcement learning.</a:t>
            </a:r>
          </a:p>
          <a:p>
            <a:pPr marL="0" indent="0">
              <a:buNone/>
            </a:pPr>
            <a:endParaRPr lang="en-IN" dirty="0"/>
          </a:p>
        </p:txBody>
      </p:sp>
    </p:spTree>
    <p:extLst>
      <p:ext uri="{BB962C8B-B14F-4D97-AF65-F5344CB8AC3E}">
        <p14:creationId xmlns:p14="http://schemas.microsoft.com/office/powerpoint/2010/main" val="3229243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21D7F0-917A-61D5-0CC2-2265CBE75EC4}"/>
              </a:ext>
            </a:extLst>
          </p:cNvPr>
          <p:cNvSpPr>
            <a:spLocks noGrp="1"/>
          </p:cNvSpPr>
          <p:nvPr>
            <p:ph idx="1"/>
          </p:nvPr>
        </p:nvSpPr>
        <p:spPr>
          <a:xfrm>
            <a:off x="838200" y="1035698"/>
            <a:ext cx="10515600" cy="5141265"/>
          </a:xfrm>
        </p:spPr>
        <p:txBody>
          <a:bodyPr>
            <a:normAutofit fontScale="92500" lnSpcReduction="10000"/>
          </a:bodyPr>
          <a:lstStyle/>
          <a:p>
            <a:pPr marL="0" indent="0" algn="ctr">
              <a:buNone/>
            </a:pPr>
            <a:r>
              <a:rPr lang="en-IN" sz="9600" dirty="0">
                <a:solidFill>
                  <a:schemeClr val="accent2">
                    <a:lumMod val="75000"/>
                  </a:schemeClr>
                </a:solidFill>
              </a:rPr>
              <a:t>	Thank You</a:t>
            </a:r>
          </a:p>
          <a:p>
            <a:pPr marL="0" indent="0" algn="r">
              <a:buNone/>
            </a:pPr>
            <a:endParaRPr lang="en-IN" sz="3600" dirty="0">
              <a:solidFill>
                <a:schemeClr val="accent1">
                  <a:lumMod val="75000"/>
                </a:schemeClr>
              </a:solidFill>
            </a:endParaRPr>
          </a:p>
          <a:p>
            <a:pPr marL="0" indent="0" algn="r">
              <a:buNone/>
            </a:pPr>
            <a:endParaRPr lang="en-IN" sz="3600" dirty="0">
              <a:solidFill>
                <a:schemeClr val="accent1">
                  <a:lumMod val="75000"/>
                </a:schemeClr>
              </a:solidFill>
            </a:endParaRPr>
          </a:p>
          <a:p>
            <a:pPr marL="0" indent="0" algn="r">
              <a:buNone/>
            </a:pPr>
            <a:r>
              <a:rPr lang="en-IN" sz="3600" dirty="0">
                <a:solidFill>
                  <a:schemeClr val="accent1">
                    <a:lumMod val="75000"/>
                  </a:schemeClr>
                </a:solidFill>
              </a:rPr>
              <a:t>-Prepared by</a:t>
            </a:r>
          </a:p>
          <a:p>
            <a:pPr marL="0" indent="0" algn="r">
              <a:buNone/>
            </a:pPr>
            <a:r>
              <a:rPr lang="en-IN" sz="3600" dirty="0">
                <a:solidFill>
                  <a:schemeClr val="accent1">
                    <a:lumMod val="75000"/>
                  </a:schemeClr>
                </a:solidFill>
              </a:rPr>
              <a:t>Jheelam Mondal</a:t>
            </a:r>
          </a:p>
          <a:p>
            <a:pPr marL="0" indent="0" algn="r">
              <a:buNone/>
            </a:pPr>
            <a:r>
              <a:rPr lang="en-IN" sz="3600" dirty="0">
                <a:solidFill>
                  <a:schemeClr val="accent1">
                    <a:lumMod val="75000"/>
                  </a:schemeClr>
                </a:solidFill>
              </a:rPr>
              <a:t>Assistant Professor</a:t>
            </a:r>
          </a:p>
          <a:p>
            <a:pPr marL="0" indent="0" algn="r">
              <a:buNone/>
            </a:pPr>
            <a:r>
              <a:rPr lang="en-IN" sz="3600" dirty="0">
                <a:solidFill>
                  <a:schemeClr val="accent1">
                    <a:lumMod val="75000"/>
                  </a:schemeClr>
                </a:solidFill>
              </a:rPr>
              <a:t>CSE Department </a:t>
            </a:r>
          </a:p>
          <a:p>
            <a:pPr marL="0" indent="0" algn="r">
              <a:buNone/>
            </a:pPr>
            <a:r>
              <a:rPr lang="en-IN" sz="3600" dirty="0">
                <a:solidFill>
                  <a:schemeClr val="accent1">
                    <a:lumMod val="75000"/>
                  </a:schemeClr>
                </a:solidFill>
              </a:rPr>
              <a:t>Haldia Institute of Technology</a:t>
            </a:r>
          </a:p>
        </p:txBody>
      </p:sp>
    </p:spTree>
    <p:extLst>
      <p:ext uri="{BB962C8B-B14F-4D97-AF65-F5344CB8AC3E}">
        <p14:creationId xmlns:p14="http://schemas.microsoft.com/office/powerpoint/2010/main" val="2100033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947</TotalTime>
  <Words>1170</Words>
  <Application>Microsoft Office PowerPoint</Application>
  <PresentationFormat>Widescreen</PresentationFormat>
  <Paragraphs>78</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inter-bold</vt:lpstr>
      <vt:lpstr>inter-regular</vt:lpstr>
      <vt:lpstr>Office Theme</vt:lpstr>
      <vt:lpstr>What is Machine Learning?</vt:lpstr>
      <vt:lpstr>The term machine learning was coined in 1959 by Arthur Samuel</vt:lpstr>
      <vt:lpstr>How Machine Learning works?</vt:lpstr>
      <vt:lpstr>How machine learning works contd…</vt:lpstr>
      <vt:lpstr>Examples -</vt:lpstr>
      <vt:lpstr>PowerPoint Presentation</vt:lpstr>
      <vt:lpstr>Examples contd..</vt:lpstr>
      <vt:lpstr>Examples contd..</vt:lpstr>
      <vt:lpstr>Examples contd..</vt:lpstr>
      <vt:lpstr>PowerPoint Presentation</vt:lpstr>
      <vt:lpstr>Types of Machine Learning</vt:lpstr>
      <vt:lpstr>Supervised Learning</vt:lpstr>
      <vt:lpstr>Types of Supervised Learning problems</vt:lpstr>
      <vt:lpstr>Classification &amp; Regression</vt:lpstr>
      <vt:lpstr>PowerPoint Presentation</vt:lpstr>
      <vt:lpstr>Classification</vt:lpstr>
      <vt:lpstr>PowerPoint Presentation</vt:lpstr>
      <vt:lpstr>Unsupervised Learning</vt:lpstr>
      <vt:lpstr>PowerPoint Presentation</vt:lpstr>
      <vt:lpstr>Unsupervised learning describes a class of problems that involves a model to describe or extract relationships in data. Unsupervised learning operates upon only the input data without outputs or target variables. Unsupervised learning does not have any teacher correcting the model.  </vt:lpstr>
      <vt:lpstr>Supervised Learning  Unsupervised Learning</vt:lpstr>
      <vt:lpstr>Supervised Learning  Unsupervised Learning</vt:lpstr>
      <vt:lpstr>Reinforcement Learning</vt:lpstr>
      <vt:lpstr>Applications of Machine Learning</vt:lpstr>
      <vt:lpstr>Applications of Machine Learning</vt:lpstr>
      <vt:lpstr>Important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Machine Learning?</dc:title>
  <dc:creator>Microsoft account</dc:creator>
  <cp:lastModifiedBy>Jheelam Mondal</cp:lastModifiedBy>
  <cp:revision>65</cp:revision>
  <dcterms:created xsi:type="dcterms:W3CDTF">2022-02-28T07:10:08Z</dcterms:created>
  <dcterms:modified xsi:type="dcterms:W3CDTF">2023-10-17T12:16:26Z</dcterms:modified>
</cp:coreProperties>
</file>